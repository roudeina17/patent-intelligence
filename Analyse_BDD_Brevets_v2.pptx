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Cli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qu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ez 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po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ur 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dé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pla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cer 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la 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dia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po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Cliquez pour modifier le format des notes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&lt;en-tête&gt;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F2697D2-3EDD-4104-86EC-E0A2EE2BA5C4}" type="slidenum"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EBD471-E81A-447F-AFBC-903AF64A2963}" type="slidenum">
              <a:rPr b="0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F9AE07-79DD-4BE9-A9B6-A99FAEA3BB85}" type="slidenum">
              <a:rPr b="0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3F2D44-2A79-40FE-823E-1BE33B89D098}" type="slidenum">
              <a:rPr b="0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21F15F-CC49-4C11-83C1-4BA99229E539}" type="slidenum">
              <a:rPr b="0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CCCBD0-5E44-4CC7-B6AD-DC84EC8147CD}" type="slidenum">
              <a:rPr b="0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28F8BB-DCFF-4AF5-AED7-70E8699B301B}" type="slidenum">
              <a:rPr b="0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B24BE4-5F07-44D8-AF68-4D6D15B44774}" type="slidenum">
              <a:rPr b="0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45D85E-E189-491C-9B7E-B843303E26D9}" type="slidenum">
              <a:rPr b="0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96CA4D-C981-4E93-A2C5-7EF83B87F337}" type="slidenum">
              <a:rPr b="0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Cliquez pour éditer le format du texte-titre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5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Cliquez pour éditer le format du plan de texte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Second niveau de plan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Troisième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Quatrième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Cinquième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Sixième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Septième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312e81">
              <a:alpha val="35000"/>
            </a:srgbClr>
          </a:solidFill>
          <a:ln w="12700">
            <a:solidFill>
              <a:srgbClr val="312e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371600" y="914400"/>
            <a:ext cx="4114440" cy="319680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1371600" y="91440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800" spc="199" strike="noStrike">
                <a:solidFill>
                  <a:srgbClr val="a855f7"/>
                </a:solidFill>
                <a:latin typeface="Calibri"/>
              </a:rPr>
              <a:t>ANALYSE BASE DE DONNEES — MASTER S2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1371600" y="1417320"/>
            <a:ext cx="6400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600" spc="-1" strike="noStrike">
                <a:solidFill>
                  <a:srgbClr val="ffffff"/>
                </a:solidFill>
                <a:latin typeface="Calibri"/>
                <a:ea typeface="Calibri"/>
              </a:rPr>
              <a:t>Nettoyage &amp; Normalisation</a:t>
            </a:r>
            <a:endParaRPr b="0" lang="fr-FR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1371600" y="2057400"/>
            <a:ext cx="6400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000" spc="-1" strike="noStrike">
                <a:solidFill>
                  <a:srgbClr val="a855f7"/>
                </a:solidFill>
                <a:latin typeface="Calibri"/>
                <a:ea typeface="Calibri"/>
              </a:rPr>
              <a:t>d'une Base de Brevets Mondiaux</a:t>
            </a:r>
            <a:endParaRPr b="0" lang="fr-FR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1371600" y="278892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300" spc="-1" strike="noStrike">
                <a:solidFill>
                  <a:srgbClr val="a5b4fc"/>
                </a:solidFill>
                <a:latin typeface="Calibri"/>
                <a:ea typeface="Calibri"/>
              </a:rPr>
              <a:t>100 000 brevets · The Lens · 2024–2026 · MongoDB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1371600" y="3383280"/>
            <a:ext cx="1645560" cy="914040"/>
          </a:xfrm>
          <a:prstGeom prst="rect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a855f7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1371600" y="3429000"/>
            <a:ext cx="1645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2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1371600" y="3822120"/>
            <a:ext cx="1645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a5b4fc"/>
                </a:solidFill>
                <a:latin typeface="Calibri"/>
                <a:ea typeface="Calibri"/>
              </a:rPr>
              <a:t>Datasets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a5b4fc"/>
                </a:solidFill>
                <a:latin typeface="Calibri"/>
                <a:ea typeface="Calibri"/>
              </a:rPr>
              <a:t>initiaux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3200400" y="3383280"/>
            <a:ext cx="1645560" cy="914040"/>
          </a:xfrm>
          <a:prstGeom prst="rect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a855f7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3200400" y="3429000"/>
            <a:ext cx="1645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200" spc="-1" strike="noStrike">
                <a:solidFill>
                  <a:srgbClr val="ffffff"/>
                </a:solidFill>
                <a:latin typeface="Calibri"/>
                <a:ea typeface="Calibri"/>
              </a:rPr>
              <a:t>1 000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3200400" y="3822120"/>
            <a:ext cx="1645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a5b4fc"/>
                </a:solidFill>
                <a:latin typeface="Calibri"/>
                <a:ea typeface="Calibri"/>
              </a:rPr>
              <a:t>Doublons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a5b4fc"/>
                </a:solidFill>
                <a:latin typeface="Calibri"/>
                <a:ea typeface="Calibri"/>
              </a:rPr>
              <a:t>supprimés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5029200" y="3383280"/>
            <a:ext cx="1645560" cy="914040"/>
          </a:xfrm>
          <a:prstGeom prst="rect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a855f7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5029200" y="3429000"/>
            <a:ext cx="1645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200" spc="-1" strike="noStrike">
                <a:solidFill>
                  <a:srgbClr val="ffffff"/>
                </a:solidFill>
                <a:latin typeface="Calibri"/>
                <a:ea typeface="Calibri"/>
              </a:rPr>
              <a:t>39 651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5029200" y="3822120"/>
            <a:ext cx="1645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a5b4fc"/>
                </a:solidFill>
                <a:latin typeface="Calibri"/>
                <a:ea typeface="Calibri"/>
              </a:rPr>
              <a:t>Champs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a5b4fc"/>
                </a:solidFill>
                <a:latin typeface="Calibri"/>
                <a:ea typeface="Calibri"/>
              </a:rPr>
              <a:t>renommés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6858000" y="3383280"/>
            <a:ext cx="1645560" cy="914040"/>
          </a:xfrm>
          <a:prstGeom prst="rect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a855f7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6858000" y="3429000"/>
            <a:ext cx="1645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200" spc="-1" strike="noStrike">
                <a:solidFill>
                  <a:srgbClr val="ffffff"/>
                </a:solidFill>
                <a:latin typeface="Calibri"/>
                <a:ea typeface="Calibri"/>
              </a:rPr>
              <a:t>100K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6858000" y="3822120"/>
            <a:ext cx="1645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a5b4fc"/>
                </a:solidFill>
                <a:latin typeface="Calibri"/>
                <a:ea typeface="Calibri"/>
              </a:rPr>
              <a:t>Documents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a5b4fc"/>
                </a:solidFill>
                <a:latin typeface="Calibri"/>
                <a:ea typeface="Calibri"/>
              </a:rPr>
              <a:t>finaux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1"/>
          <p:cNvSpPr/>
          <p:nvPr/>
        </p:nvSpPr>
        <p:spPr>
          <a:xfrm>
            <a:off x="0" y="0"/>
            <a:ext cx="109440" cy="914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2"/>
          <p:cNvSpPr/>
          <p:nvPr/>
        </p:nvSpPr>
        <p:spPr>
          <a:xfrm>
            <a:off x="274320" y="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199" strike="noStrike">
                <a:solidFill>
                  <a:srgbClr val="a855f7"/>
                </a:solidFill>
                <a:latin typeface="Calibri"/>
              </a:rPr>
              <a:t>ETAPE 1 — SOURCE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3"/>
          <p:cNvSpPr/>
          <p:nvPr/>
        </p:nvSpPr>
        <p:spPr>
          <a:xfrm>
            <a:off x="274320" y="3474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200" spc="-1" strike="noStrike">
                <a:solidFill>
                  <a:srgbClr val="ffffff"/>
                </a:solidFill>
                <a:latin typeface="Calibri"/>
              </a:rPr>
              <a:t>Présentation des Données Brutes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4"/>
          <p:cNvSpPr/>
          <p:nvPr/>
        </p:nvSpPr>
        <p:spPr>
          <a:xfrm>
            <a:off x="274320" y="1051560"/>
            <a:ext cx="4023000" cy="374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5"/>
          <p:cNvSpPr/>
          <p:nvPr/>
        </p:nvSpPr>
        <p:spPr>
          <a:xfrm>
            <a:off x="274320" y="1051560"/>
            <a:ext cx="4023000" cy="63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6"/>
          <p:cNvSpPr/>
          <p:nvPr/>
        </p:nvSpPr>
        <p:spPr>
          <a:xfrm>
            <a:off x="274320" y="1051560"/>
            <a:ext cx="4023000" cy="639720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7"/>
          <p:cNvSpPr/>
          <p:nvPr/>
        </p:nvSpPr>
        <p:spPr>
          <a:xfrm>
            <a:off x="457200" y="109728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800" spc="199" strike="noStrike">
                <a:solidFill>
                  <a:srgbClr val="3b82f6"/>
                </a:solidFill>
                <a:latin typeface="Calibri"/>
              </a:rPr>
              <a:t>DATASET 1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8"/>
          <p:cNvSpPr/>
          <p:nvPr/>
        </p:nvSpPr>
        <p:spPr>
          <a:xfrm>
            <a:off x="457200" y="133488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500" spc="-1" strike="noStrike">
                <a:solidFill>
                  <a:srgbClr val="1e293b"/>
                </a:solidFill>
                <a:latin typeface="Calibri"/>
              </a:rPr>
              <a:t>Brevets 2026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9"/>
          <p:cNvSpPr/>
          <p:nvPr/>
        </p:nvSpPr>
        <p:spPr>
          <a:xfrm>
            <a:off x="365760" y="1874520"/>
            <a:ext cx="3748680" cy="383760"/>
          </a:xfrm>
          <a:prstGeom prst="rect">
            <a:avLst/>
          </a:prstGeom>
          <a:solidFill>
            <a:srgbClr val="f8faff"/>
          </a:solidFill>
          <a:ln w="12700">
            <a:solidFill>
              <a:srgbClr val="e8e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10"/>
          <p:cNvSpPr/>
          <p:nvPr/>
        </p:nvSpPr>
        <p:spPr>
          <a:xfrm>
            <a:off x="502920" y="1920240"/>
            <a:ext cx="164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00" spc="-1" strike="noStrike">
                <a:solidFill>
                  <a:srgbClr val="64748b"/>
                </a:solidFill>
                <a:latin typeface="Calibri"/>
              </a:rPr>
              <a:t>Volume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11"/>
          <p:cNvSpPr/>
          <p:nvPr/>
        </p:nvSpPr>
        <p:spPr>
          <a:xfrm>
            <a:off x="2194560" y="1920240"/>
            <a:ext cx="1737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3b82f6"/>
                </a:solidFill>
                <a:latin typeface="Calibri"/>
              </a:rPr>
              <a:t>50 000 brevets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12"/>
          <p:cNvSpPr/>
          <p:nvPr/>
        </p:nvSpPr>
        <p:spPr>
          <a:xfrm>
            <a:off x="365760" y="2322720"/>
            <a:ext cx="374868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3"/>
          <p:cNvSpPr/>
          <p:nvPr/>
        </p:nvSpPr>
        <p:spPr>
          <a:xfrm>
            <a:off x="502920" y="2368440"/>
            <a:ext cx="164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00" spc="-1" strike="noStrike">
                <a:solidFill>
                  <a:srgbClr val="64748b"/>
                </a:solidFill>
                <a:latin typeface="Calibri"/>
              </a:rPr>
              <a:t>Langue des champs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4"/>
          <p:cNvSpPr/>
          <p:nvPr/>
        </p:nvSpPr>
        <p:spPr>
          <a:xfrm>
            <a:off x="2194560" y="2368440"/>
            <a:ext cx="1737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3b82f6"/>
                </a:solidFill>
                <a:latin typeface="Calibri"/>
              </a:rPr>
              <a:t>Francais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15"/>
          <p:cNvSpPr/>
          <p:nvPr/>
        </p:nvSpPr>
        <p:spPr>
          <a:xfrm>
            <a:off x="365760" y="2770560"/>
            <a:ext cx="3748680" cy="383760"/>
          </a:xfrm>
          <a:prstGeom prst="rect">
            <a:avLst/>
          </a:prstGeom>
          <a:solidFill>
            <a:srgbClr val="f8faff"/>
          </a:solidFill>
          <a:ln w="12700">
            <a:solidFill>
              <a:srgbClr val="e8e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16"/>
          <p:cNvSpPr/>
          <p:nvPr/>
        </p:nvSpPr>
        <p:spPr>
          <a:xfrm>
            <a:off x="502920" y="2816280"/>
            <a:ext cx="164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00" spc="-1" strike="noStrike">
                <a:solidFill>
                  <a:srgbClr val="64748b"/>
                </a:solidFill>
                <a:latin typeface="Calibri"/>
              </a:rPr>
              <a:t>Statut legal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17"/>
          <p:cNvSpPr/>
          <p:nvPr/>
        </p:nvSpPr>
        <p:spPr>
          <a:xfrm>
            <a:off x="2194560" y="2816280"/>
            <a:ext cx="1737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3b82f6"/>
                </a:solidFill>
                <a:latin typeface="Calibri"/>
              </a:rPr>
              <a:t>ACTIVE (present)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18"/>
          <p:cNvSpPr/>
          <p:nvPr/>
        </p:nvSpPr>
        <p:spPr>
          <a:xfrm>
            <a:off x="365760" y="3218760"/>
            <a:ext cx="374868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19"/>
          <p:cNvSpPr/>
          <p:nvPr/>
        </p:nvSpPr>
        <p:spPr>
          <a:xfrm>
            <a:off x="502920" y="3264480"/>
            <a:ext cx="164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00" spc="-1" strike="noStrike">
                <a:solidFill>
                  <a:srgbClr val="64748b"/>
                </a:solidFill>
                <a:latin typeface="Calibri"/>
              </a:rPr>
              <a:t>Champ cle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20"/>
          <p:cNvSpPr/>
          <p:nvPr/>
        </p:nvSpPr>
        <p:spPr>
          <a:xfrm>
            <a:off x="2194560" y="3264480"/>
            <a:ext cx="1737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3b82f6"/>
                </a:solidFill>
                <a:latin typeface="Calibri"/>
              </a:rPr>
              <a:t>Annee de publication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21"/>
          <p:cNvSpPr/>
          <p:nvPr/>
        </p:nvSpPr>
        <p:spPr>
          <a:xfrm>
            <a:off x="365760" y="3666600"/>
            <a:ext cx="3748680" cy="383760"/>
          </a:xfrm>
          <a:prstGeom prst="rect">
            <a:avLst/>
          </a:prstGeom>
          <a:solidFill>
            <a:srgbClr val="f8faff"/>
          </a:solidFill>
          <a:ln w="12700">
            <a:solidFill>
              <a:srgbClr val="e8e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22"/>
          <p:cNvSpPr/>
          <p:nvPr/>
        </p:nvSpPr>
        <p:spPr>
          <a:xfrm>
            <a:off x="502920" y="3712320"/>
            <a:ext cx="164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00" spc="-1" strike="noStrike">
                <a:solidFill>
                  <a:srgbClr val="64748b"/>
                </a:solidFill>
                <a:latin typeface="Calibri"/>
              </a:rPr>
              <a:t>Juridictions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23"/>
          <p:cNvSpPr/>
          <p:nvPr/>
        </p:nvSpPr>
        <p:spPr>
          <a:xfrm>
            <a:off x="2194560" y="3712320"/>
            <a:ext cx="1737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3b82f6"/>
                </a:solidFill>
                <a:latin typeface="Calibri"/>
              </a:rPr>
              <a:t>CN dominant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24"/>
          <p:cNvSpPr/>
          <p:nvPr/>
        </p:nvSpPr>
        <p:spPr>
          <a:xfrm>
            <a:off x="365760" y="4114800"/>
            <a:ext cx="374868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25"/>
          <p:cNvSpPr/>
          <p:nvPr/>
        </p:nvSpPr>
        <p:spPr>
          <a:xfrm>
            <a:off x="502920" y="4160520"/>
            <a:ext cx="164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00" spc="-1" strike="noStrike">
                <a:solidFill>
                  <a:srgbClr val="64748b"/>
                </a:solidFill>
                <a:latin typeface="Calibri"/>
              </a:rPr>
              <a:t>Statut import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26"/>
          <p:cNvSpPr/>
          <p:nvPr/>
        </p:nvSpPr>
        <p:spPr>
          <a:xfrm>
            <a:off x="2194560" y="4160520"/>
            <a:ext cx="1737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3b82f6"/>
                </a:solidFill>
                <a:latin typeface="Calibri"/>
              </a:rPr>
              <a:t>Complet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27"/>
          <p:cNvSpPr/>
          <p:nvPr/>
        </p:nvSpPr>
        <p:spPr>
          <a:xfrm>
            <a:off x="4754880" y="1051560"/>
            <a:ext cx="4023000" cy="374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28"/>
          <p:cNvSpPr/>
          <p:nvPr/>
        </p:nvSpPr>
        <p:spPr>
          <a:xfrm>
            <a:off x="4754880" y="1051560"/>
            <a:ext cx="4023000" cy="63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29"/>
          <p:cNvSpPr/>
          <p:nvPr/>
        </p:nvSpPr>
        <p:spPr>
          <a:xfrm>
            <a:off x="4754880" y="1051560"/>
            <a:ext cx="4023000" cy="639720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30"/>
          <p:cNvSpPr/>
          <p:nvPr/>
        </p:nvSpPr>
        <p:spPr>
          <a:xfrm>
            <a:off x="4937760" y="109728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800" spc="199" strike="noStrike">
                <a:solidFill>
                  <a:srgbClr val="f59e0b"/>
                </a:solidFill>
                <a:latin typeface="Calibri"/>
              </a:rPr>
              <a:t>DATASET 2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31"/>
          <p:cNvSpPr/>
          <p:nvPr/>
        </p:nvSpPr>
        <p:spPr>
          <a:xfrm>
            <a:off x="4937760" y="133488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500" spc="-1" strike="noStrike">
                <a:solidFill>
                  <a:srgbClr val="1e293b"/>
                </a:solidFill>
                <a:latin typeface="Calibri"/>
              </a:rPr>
              <a:t>Brevets 2024 &amp; 2025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32"/>
          <p:cNvSpPr/>
          <p:nvPr/>
        </p:nvSpPr>
        <p:spPr>
          <a:xfrm>
            <a:off x="4846320" y="1874520"/>
            <a:ext cx="3748680" cy="383760"/>
          </a:xfrm>
          <a:prstGeom prst="rect">
            <a:avLst/>
          </a:prstGeom>
          <a:solidFill>
            <a:srgbClr val="fffaf0"/>
          </a:solidFill>
          <a:ln w="12700">
            <a:solidFill>
              <a:srgbClr val="ffe8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33"/>
          <p:cNvSpPr/>
          <p:nvPr/>
        </p:nvSpPr>
        <p:spPr>
          <a:xfrm>
            <a:off x="4983480" y="1920240"/>
            <a:ext cx="164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00" spc="-1" strike="noStrike">
                <a:solidFill>
                  <a:srgbClr val="64748b"/>
                </a:solidFill>
                <a:latin typeface="Calibri"/>
              </a:rPr>
              <a:t>Volume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34"/>
          <p:cNvSpPr/>
          <p:nvPr/>
        </p:nvSpPr>
        <p:spPr>
          <a:xfrm>
            <a:off x="6675120" y="1920240"/>
            <a:ext cx="1737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f59e0b"/>
                </a:solidFill>
                <a:latin typeface="Calibri"/>
              </a:rPr>
              <a:t>51 000 brevets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35"/>
          <p:cNvSpPr/>
          <p:nvPr/>
        </p:nvSpPr>
        <p:spPr>
          <a:xfrm>
            <a:off x="4846320" y="2322720"/>
            <a:ext cx="374868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8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36"/>
          <p:cNvSpPr/>
          <p:nvPr/>
        </p:nvSpPr>
        <p:spPr>
          <a:xfrm>
            <a:off x="4983480" y="2368440"/>
            <a:ext cx="164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00" spc="-1" strike="noStrike">
                <a:solidFill>
                  <a:srgbClr val="64748b"/>
                </a:solidFill>
                <a:latin typeface="Calibri"/>
              </a:rPr>
              <a:t>Langue des champs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37"/>
          <p:cNvSpPr/>
          <p:nvPr/>
        </p:nvSpPr>
        <p:spPr>
          <a:xfrm>
            <a:off x="6675120" y="2368440"/>
            <a:ext cx="1737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f59e0b"/>
                </a:solidFill>
                <a:latin typeface="Calibri"/>
              </a:rPr>
              <a:t>Anglais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38"/>
          <p:cNvSpPr/>
          <p:nvPr/>
        </p:nvSpPr>
        <p:spPr>
          <a:xfrm>
            <a:off x="4846320" y="2770560"/>
            <a:ext cx="3748680" cy="383760"/>
          </a:xfrm>
          <a:prstGeom prst="rect">
            <a:avLst/>
          </a:prstGeom>
          <a:solidFill>
            <a:srgbClr val="fffaf0"/>
          </a:solidFill>
          <a:ln w="12700">
            <a:solidFill>
              <a:srgbClr val="ffe8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39"/>
          <p:cNvSpPr/>
          <p:nvPr/>
        </p:nvSpPr>
        <p:spPr>
          <a:xfrm>
            <a:off x="4983480" y="2816280"/>
            <a:ext cx="164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00" spc="-1" strike="noStrike">
                <a:solidFill>
                  <a:srgbClr val="64748b"/>
                </a:solidFill>
                <a:latin typeface="Calibri"/>
              </a:rPr>
              <a:t>Statut legal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40"/>
          <p:cNvSpPr/>
          <p:nvPr/>
        </p:nvSpPr>
        <p:spPr>
          <a:xfrm>
            <a:off x="6675120" y="2816280"/>
            <a:ext cx="1737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f59e0b"/>
                </a:solidFill>
                <a:latin typeface="Calibri"/>
              </a:rPr>
              <a:t>Absent (UNKNOWN)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41"/>
          <p:cNvSpPr/>
          <p:nvPr/>
        </p:nvSpPr>
        <p:spPr>
          <a:xfrm>
            <a:off x="4846320" y="3218760"/>
            <a:ext cx="374868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8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42"/>
          <p:cNvSpPr/>
          <p:nvPr/>
        </p:nvSpPr>
        <p:spPr>
          <a:xfrm>
            <a:off x="4983480" y="3264480"/>
            <a:ext cx="164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00" spc="-1" strike="noStrike">
                <a:solidFill>
                  <a:srgbClr val="64748b"/>
                </a:solidFill>
                <a:latin typeface="Calibri"/>
              </a:rPr>
              <a:t>Champ cle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43"/>
          <p:cNvSpPr/>
          <p:nvPr/>
        </p:nvSpPr>
        <p:spPr>
          <a:xfrm>
            <a:off x="6675120" y="3264480"/>
            <a:ext cx="1737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f59e0b"/>
                </a:solidFill>
                <a:latin typeface="Calibri"/>
              </a:rPr>
              <a:t>Publication Year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44"/>
          <p:cNvSpPr/>
          <p:nvPr/>
        </p:nvSpPr>
        <p:spPr>
          <a:xfrm>
            <a:off x="4846320" y="3666600"/>
            <a:ext cx="3748680" cy="383760"/>
          </a:xfrm>
          <a:prstGeom prst="rect">
            <a:avLst/>
          </a:prstGeom>
          <a:solidFill>
            <a:srgbClr val="fffaf0"/>
          </a:solidFill>
          <a:ln w="12700">
            <a:solidFill>
              <a:srgbClr val="ffe8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45"/>
          <p:cNvSpPr/>
          <p:nvPr/>
        </p:nvSpPr>
        <p:spPr>
          <a:xfrm>
            <a:off x="4983480" y="3712320"/>
            <a:ext cx="164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00" spc="-1" strike="noStrike">
                <a:solidFill>
                  <a:srgbClr val="64748b"/>
                </a:solidFill>
                <a:latin typeface="Calibri"/>
              </a:rPr>
              <a:t>Juridictions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46"/>
          <p:cNvSpPr/>
          <p:nvPr/>
        </p:nvSpPr>
        <p:spPr>
          <a:xfrm>
            <a:off x="6675120" y="3712320"/>
            <a:ext cx="1737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f59e0b"/>
                </a:solidFill>
                <a:latin typeface="Calibri"/>
              </a:rPr>
              <a:t>US, EP, JP, KR, TW...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47"/>
          <p:cNvSpPr/>
          <p:nvPr/>
        </p:nvSpPr>
        <p:spPr>
          <a:xfrm>
            <a:off x="4846320" y="4114800"/>
            <a:ext cx="374868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8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48"/>
          <p:cNvSpPr/>
          <p:nvPr/>
        </p:nvSpPr>
        <p:spPr>
          <a:xfrm>
            <a:off x="4983480" y="4160520"/>
            <a:ext cx="164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00" spc="-1" strike="noStrike">
                <a:solidFill>
                  <a:srgbClr val="64748b"/>
                </a:solidFill>
                <a:latin typeface="Calibri"/>
              </a:rPr>
              <a:t>Statut import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49"/>
          <p:cNvSpPr/>
          <p:nvPr/>
        </p:nvSpPr>
        <p:spPr>
          <a:xfrm>
            <a:off x="6675120" y="4160520"/>
            <a:ext cx="1737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f59e0b"/>
                </a:solidFill>
                <a:latin typeface="Calibri"/>
              </a:rPr>
              <a:t>Incompatible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Shape 1"/>
          <p:cNvSpPr/>
          <p:nvPr/>
        </p:nvSpPr>
        <p:spPr>
          <a:xfrm>
            <a:off x="0" y="0"/>
            <a:ext cx="109440" cy="914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2"/>
          <p:cNvSpPr/>
          <p:nvPr/>
        </p:nvSpPr>
        <p:spPr>
          <a:xfrm>
            <a:off x="274320" y="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199" strike="noStrike">
                <a:solidFill>
                  <a:srgbClr val="a855f7"/>
                </a:solidFill>
                <a:latin typeface="Calibri"/>
              </a:rPr>
              <a:t>ETAPE 2 — DIAGNOSTIC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3"/>
          <p:cNvSpPr/>
          <p:nvPr/>
        </p:nvSpPr>
        <p:spPr>
          <a:xfrm>
            <a:off x="274320" y="3474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200" spc="-1" strike="noStrike">
                <a:solidFill>
                  <a:srgbClr val="ffffff"/>
                </a:solidFill>
                <a:latin typeface="Calibri"/>
              </a:rPr>
              <a:t>Problemes Detectes dans les Donnees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4"/>
          <p:cNvSpPr/>
          <p:nvPr/>
        </p:nvSpPr>
        <p:spPr>
          <a:xfrm>
            <a:off x="274320" y="1024200"/>
            <a:ext cx="8412120" cy="868320"/>
          </a:xfrm>
          <a:prstGeom prst="rect">
            <a:avLst/>
          </a:prstGeom>
          <a:solidFill>
            <a:srgbClr val="ef4444">
              <a:alpha val="7000"/>
            </a:srgbClr>
          </a:solidFill>
          <a:ln w="12700">
            <a:solidFill>
              <a:srgbClr val="ef4444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5"/>
          <p:cNvSpPr/>
          <p:nvPr/>
        </p:nvSpPr>
        <p:spPr>
          <a:xfrm>
            <a:off x="274320" y="1024200"/>
            <a:ext cx="63720" cy="868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Shape 6"/>
          <p:cNvSpPr/>
          <p:nvPr/>
        </p:nvSpPr>
        <p:spPr>
          <a:xfrm>
            <a:off x="411480" y="1225440"/>
            <a:ext cx="383760" cy="3837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7"/>
          <p:cNvSpPr/>
          <p:nvPr/>
        </p:nvSpPr>
        <p:spPr>
          <a:xfrm>
            <a:off x="411480" y="12254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ffffff"/>
                </a:solidFill>
                <a:latin typeface="Calibri"/>
              </a:rPr>
              <a:t>P1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8"/>
          <p:cNvSpPr/>
          <p:nvPr/>
        </p:nvSpPr>
        <p:spPr>
          <a:xfrm>
            <a:off x="7772400" y="1280160"/>
            <a:ext cx="868320" cy="273960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9"/>
          <p:cNvSpPr/>
          <p:nvPr/>
        </p:nvSpPr>
        <p:spPr>
          <a:xfrm>
            <a:off x="7772400" y="1280160"/>
            <a:ext cx="868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750" spc="-1" strike="noStrike">
                <a:solidFill>
                  <a:srgbClr val="ef4444"/>
                </a:solidFill>
                <a:latin typeface="Calibri"/>
              </a:rPr>
              <a:t>CRITIQUE</a:t>
            </a:r>
            <a:endParaRPr b="0" lang="fr-F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10"/>
          <p:cNvSpPr/>
          <p:nvPr/>
        </p:nvSpPr>
        <p:spPr>
          <a:xfrm>
            <a:off x="914400" y="1078920"/>
            <a:ext cx="6674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200" spc="-1" strike="noStrike">
                <a:solidFill>
                  <a:srgbClr val="ef4444"/>
                </a:solidFill>
                <a:latin typeface="Calibri"/>
              </a:rPr>
              <a:t>Champs incompatibles entre les 2 datasets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11"/>
          <p:cNvSpPr/>
          <p:nvPr/>
        </p:nvSpPr>
        <p:spPr>
          <a:xfrm>
            <a:off x="914400" y="1426320"/>
            <a:ext cx="6674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64748b"/>
                </a:solidFill>
                <a:latin typeface="Calibri"/>
                <a:ea typeface="Calibri"/>
              </a:rPr>
              <a:t>Dataset 2026 : champs en FRANCAIS (ex: Annee de publication, Juridiction)   |   Dataset 2024/2025 : champs en ANGLAIS (ex: Publication Year, Jurisdiction)   |   Consequence : aucune requete MongoDB ne fonctionnait sur l'ensemble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12"/>
          <p:cNvSpPr/>
          <p:nvPr/>
        </p:nvSpPr>
        <p:spPr>
          <a:xfrm>
            <a:off x="274320" y="2011680"/>
            <a:ext cx="8412120" cy="868320"/>
          </a:xfrm>
          <a:prstGeom prst="rect">
            <a:avLst/>
          </a:prstGeom>
          <a:solidFill>
            <a:srgbClr val="f59e0b">
              <a:alpha val="7000"/>
            </a:srgbClr>
          </a:solidFill>
          <a:ln w="12700">
            <a:solidFill>
              <a:srgbClr val="f59e0b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13"/>
          <p:cNvSpPr/>
          <p:nvPr/>
        </p:nvSpPr>
        <p:spPr>
          <a:xfrm>
            <a:off x="274320" y="2011680"/>
            <a:ext cx="63720" cy="868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14"/>
          <p:cNvSpPr/>
          <p:nvPr/>
        </p:nvSpPr>
        <p:spPr>
          <a:xfrm>
            <a:off x="411480" y="2212920"/>
            <a:ext cx="383760" cy="383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15"/>
          <p:cNvSpPr/>
          <p:nvPr/>
        </p:nvSpPr>
        <p:spPr>
          <a:xfrm>
            <a:off x="411480" y="22129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ffffff"/>
                </a:solidFill>
                <a:latin typeface="Calibri"/>
              </a:rPr>
              <a:t>P2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16"/>
          <p:cNvSpPr/>
          <p:nvPr/>
        </p:nvSpPr>
        <p:spPr>
          <a:xfrm>
            <a:off x="7772400" y="2267640"/>
            <a:ext cx="868320" cy="273960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17"/>
          <p:cNvSpPr/>
          <p:nvPr/>
        </p:nvSpPr>
        <p:spPr>
          <a:xfrm>
            <a:off x="7772400" y="2267640"/>
            <a:ext cx="868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750" spc="-1" strike="noStrike">
                <a:solidFill>
                  <a:srgbClr val="f59e0b"/>
                </a:solidFill>
                <a:latin typeface="Calibri"/>
              </a:rPr>
              <a:t>MAJEUR</a:t>
            </a:r>
            <a:endParaRPr b="0" lang="fr-F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8"/>
          <p:cNvSpPr/>
          <p:nvPr/>
        </p:nvSpPr>
        <p:spPr>
          <a:xfrm>
            <a:off x="914400" y="2066400"/>
            <a:ext cx="6674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200" spc="-1" strike="noStrike">
                <a:solidFill>
                  <a:srgbClr val="f59e0b"/>
                </a:solidFill>
                <a:latin typeface="Calibri"/>
              </a:rPr>
              <a:t>1 000 doublons identifies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19"/>
          <p:cNvSpPr/>
          <p:nvPr/>
        </p:nvSpPr>
        <p:spPr>
          <a:xfrm>
            <a:off x="914400" y="2414160"/>
            <a:ext cx="6674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64748b"/>
                </a:solidFill>
                <a:latin typeface="Calibri"/>
                <a:ea typeface="Calibri"/>
              </a:rPr>
              <a:t>Lors de l'import multiple, certains brevets ont ete inseres 2 fois   |   Cle de detection : champ Identifiant de The Lens   |   Consequence : statistiques faussees (total affiche = 101 000)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20"/>
          <p:cNvSpPr/>
          <p:nvPr/>
        </p:nvSpPr>
        <p:spPr>
          <a:xfrm>
            <a:off x="274320" y="2999160"/>
            <a:ext cx="8412120" cy="868320"/>
          </a:xfrm>
          <a:prstGeom prst="rect">
            <a:avLst/>
          </a:prstGeom>
          <a:solidFill>
            <a:srgbClr val="7c3aed">
              <a:alpha val="7000"/>
            </a:srgbClr>
          </a:solidFill>
          <a:ln w="12700">
            <a:solidFill>
              <a:srgbClr val="7c3aed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Shape 21"/>
          <p:cNvSpPr/>
          <p:nvPr/>
        </p:nvSpPr>
        <p:spPr>
          <a:xfrm>
            <a:off x="274320" y="2999160"/>
            <a:ext cx="63720" cy="868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Shape 22"/>
          <p:cNvSpPr/>
          <p:nvPr/>
        </p:nvSpPr>
        <p:spPr>
          <a:xfrm>
            <a:off x="411480" y="3200400"/>
            <a:ext cx="383760" cy="383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23"/>
          <p:cNvSpPr/>
          <p:nvPr/>
        </p:nvSpPr>
        <p:spPr>
          <a:xfrm>
            <a:off x="411480" y="3200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ffffff"/>
                </a:solidFill>
                <a:latin typeface="Calibri"/>
              </a:rPr>
              <a:t>P3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24"/>
          <p:cNvSpPr/>
          <p:nvPr/>
        </p:nvSpPr>
        <p:spPr>
          <a:xfrm>
            <a:off x="7772400" y="3255120"/>
            <a:ext cx="868320" cy="273960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25"/>
          <p:cNvSpPr/>
          <p:nvPr/>
        </p:nvSpPr>
        <p:spPr>
          <a:xfrm>
            <a:off x="7772400" y="3255120"/>
            <a:ext cx="868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750" spc="-1" strike="noStrike">
                <a:solidFill>
                  <a:srgbClr val="7c3aed"/>
                </a:solidFill>
                <a:latin typeface="Calibri"/>
              </a:rPr>
              <a:t>MODERE</a:t>
            </a:r>
            <a:endParaRPr b="0" lang="fr-F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26"/>
          <p:cNvSpPr/>
          <p:nvPr/>
        </p:nvSpPr>
        <p:spPr>
          <a:xfrm>
            <a:off x="914400" y="3054240"/>
            <a:ext cx="6674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200" spc="-1" strike="noStrike">
                <a:solidFill>
                  <a:srgbClr val="7c3aed"/>
                </a:solidFill>
                <a:latin typeface="Calibri"/>
              </a:rPr>
              <a:t>Champs manquants dans 2024/2025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27"/>
          <p:cNvSpPr/>
          <p:nvPr/>
        </p:nvSpPr>
        <p:spPr>
          <a:xfrm>
            <a:off x="914400" y="3401640"/>
            <a:ext cx="6674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64748b"/>
                </a:solidFill>
                <a:latin typeface="Calibri"/>
                <a:ea typeface="Calibri"/>
              </a:rPr>
              <a:t>Statut legal absent pour 50 103 brevets (export gratuit The Lens)   |   Champ Resume absent pour 16 241 brevets   |   Consequence : valeurs NULL causant des erreurs d'agregation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28"/>
          <p:cNvSpPr/>
          <p:nvPr/>
        </p:nvSpPr>
        <p:spPr>
          <a:xfrm>
            <a:off x="274320" y="3986640"/>
            <a:ext cx="8412120" cy="868320"/>
          </a:xfrm>
          <a:prstGeom prst="rect">
            <a:avLst/>
          </a:prstGeom>
          <a:solidFill>
            <a:srgbClr val="3b82f6">
              <a:alpha val="7000"/>
            </a:srgbClr>
          </a:solidFill>
          <a:ln w="12700">
            <a:solidFill>
              <a:srgbClr val="3b82f6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Shape 29"/>
          <p:cNvSpPr/>
          <p:nvPr/>
        </p:nvSpPr>
        <p:spPr>
          <a:xfrm>
            <a:off x="274320" y="3986640"/>
            <a:ext cx="63720" cy="868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Shape 30"/>
          <p:cNvSpPr/>
          <p:nvPr/>
        </p:nvSpPr>
        <p:spPr>
          <a:xfrm>
            <a:off x="411480" y="4187880"/>
            <a:ext cx="383760" cy="3837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31"/>
          <p:cNvSpPr/>
          <p:nvPr/>
        </p:nvSpPr>
        <p:spPr>
          <a:xfrm>
            <a:off x="411480" y="4187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ffffff"/>
                </a:solidFill>
                <a:latin typeface="Calibri"/>
              </a:rPr>
              <a:t>P4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32"/>
          <p:cNvSpPr/>
          <p:nvPr/>
        </p:nvSpPr>
        <p:spPr>
          <a:xfrm>
            <a:off x="7772400" y="4242960"/>
            <a:ext cx="868320" cy="273960"/>
          </a:xfrm>
          <a:prstGeom prst="rect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33"/>
          <p:cNvSpPr/>
          <p:nvPr/>
        </p:nvSpPr>
        <p:spPr>
          <a:xfrm>
            <a:off x="7772400" y="4242960"/>
            <a:ext cx="868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750" spc="-1" strike="noStrike">
                <a:solidFill>
                  <a:srgbClr val="3b82f6"/>
                </a:solidFill>
                <a:latin typeface="Calibri"/>
              </a:rPr>
              <a:t>MODERE</a:t>
            </a:r>
            <a:endParaRPr b="0" lang="fr-F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34"/>
          <p:cNvSpPr/>
          <p:nvPr/>
        </p:nvSpPr>
        <p:spPr>
          <a:xfrm>
            <a:off x="914400" y="4041720"/>
            <a:ext cx="6674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200" spc="-1" strike="noStrike">
                <a:solidFill>
                  <a:srgbClr val="3b82f6"/>
                </a:solidFill>
                <a:latin typeface="Calibri"/>
              </a:rPr>
              <a:t>Champ Resume nomme differemment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35"/>
          <p:cNvSpPr/>
          <p:nvPr/>
        </p:nvSpPr>
        <p:spPr>
          <a:xfrm>
            <a:off x="914400" y="4389120"/>
            <a:ext cx="6674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64748b"/>
                </a:solidFill>
                <a:latin typeface="Calibri"/>
                <a:ea typeface="Calibri"/>
              </a:rPr>
              <a:t>Dataset 2026 : champ nomme Resume   |   Dataset 2024/2025 : champ nomme Abstract   |   39 651 documents affectes par cette incohérence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Shape 1"/>
          <p:cNvSpPr/>
          <p:nvPr/>
        </p:nvSpPr>
        <p:spPr>
          <a:xfrm>
            <a:off x="0" y="0"/>
            <a:ext cx="109440" cy="914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2"/>
          <p:cNvSpPr/>
          <p:nvPr/>
        </p:nvSpPr>
        <p:spPr>
          <a:xfrm>
            <a:off x="274320" y="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199" strike="noStrike">
                <a:solidFill>
                  <a:srgbClr val="a855f7"/>
                </a:solidFill>
                <a:latin typeface="Calibri"/>
              </a:rPr>
              <a:t>ETAPE 3 — NETTOYAGE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3"/>
          <p:cNvSpPr/>
          <p:nvPr/>
        </p:nvSpPr>
        <p:spPr>
          <a:xfrm>
            <a:off x="274320" y="3474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200" spc="-1" strike="noStrike">
                <a:solidFill>
                  <a:srgbClr val="ffffff"/>
                </a:solidFill>
                <a:latin typeface="Calibri"/>
              </a:rPr>
              <a:t>Harmonisation des Champs (P1)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274320" y="1005840"/>
            <a:ext cx="3931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97" strike="noStrike">
                <a:solidFill>
                  <a:srgbClr val="ef4444"/>
                </a:solidFill>
                <a:latin typeface="Calibri"/>
              </a:rPr>
              <a:t>AVANT — Dataset 2024/2025 (champs anglais)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4846320" y="1005840"/>
            <a:ext cx="3931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97" strike="noStrike">
                <a:solidFill>
                  <a:srgbClr val="10b981"/>
                </a:solidFill>
                <a:latin typeface="Calibri"/>
              </a:rPr>
              <a:t>APRES — Champs unifies (francais)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6"/>
          <p:cNvSpPr/>
          <p:nvPr/>
        </p:nvSpPr>
        <p:spPr>
          <a:xfrm>
            <a:off x="274320" y="1371600"/>
            <a:ext cx="3840120" cy="383760"/>
          </a:xfrm>
          <a:prstGeom prst="rect">
            <a:avLst/>
          </a:prstGeom>
          <a:solidFill>
            <a:srgbClr val="ef4444">
              <a:alpha val="7000"/>
            </a:srgbClr>
          </a:solidFill>
          <a:ln w="12700">
            <a:solidFill>
              <a:srgbClr val="ef4444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Shape 7"/>
          <p:cNvSpPr/>
          <p:nvPr/>
        </p:nvSpPr>
        <p:spPr>
          <a:xfrm>
            <a:off x="274320" y="1371600"/>
            <a:ext cx="54360" cy="383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8"/>
          <p:cNvSpPr/>
          <p:nvPr/>
        </p:nvSpPr>
        <p:spPr>
          <a:xfrm>
            <a:off x="411480" y="1417320"/>
            <a:ext cx="3565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50" spc="-1" strike="noStrike">
                <a:solidFill>
                  <a:srgbClr val="ef4444"/>
                </a:solidFill>
                <a:latin typeface="Consolas"/>
                <a:ea typeface="Consolas"/>
              </a:rPr>
              <a:t>"Jurisdiction"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9"/>
          <p:cNvSpPr/>
          <p:nvPr/>
        </p:nvSpPr>
        <p:spPr>
          <a:xfrm>
            <a:off x="4206240" y="1444680"/>
            <a:ext cx="54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-1" strike="noStrike">
                <a:solidFill>
                  <a:srgbClr val="7c3aed"/>
                </a:solidFill>
                <a:latin typeface="Calibri"/>
              </a:rPr>
              <a:t>--&gt;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10"/>
          <p:cNvSpPr/>
          <p:nvPr/>
        </p:nvSpPr>
        <p:spPr>
          <a:xfrm>
            <a:off x="4846320" y="1371600"/>
            <a:ext cx="4023000" cy="383760"/>
          </a:xfrm>
          <a:prstGeom prst="rect">
            <a:avLst/>
          </a:prstGeom>
          <a:solidFill>
            <a:srgbClr val="10b981">
              <a:alpha val="7000"/>
            </a:srgbClr>
          </a:solidFill>
          <a:ln w="12700">
            <a:solidFill>
              <a:srgbClr val="10b981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Shape 11"/>
          <p:cNvSpPr/>
          <p:nvPr/>
        </p:nvSpPr>
        <p:spPr>
          <a:xfrm>
            <a:off x="4846320" y="1371600"/>
            <a:ext cx="54360" cy="383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12"/>
          <p:cNvSpPr/>
          <p:nvPr/>
        </p:nvSpPr>
        <p:spPr>
          <a:xfrm>
            <a:off x="4983480" y="1417320"/>
            <a:ext cx="3748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50" spc="-1" strike="noStrike">
                <a:solidFill>
                  <a:srgbClr val="10b981"/>
                </a:solidFill>
                <a:latin typeface="Consolas"/>
                <a:ea typeface="Consolas"/>
              </a:rPr>
              <a:t>"Juridiction"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13"/>
          <p:cNvSpPr/>
          <p:nvPr/>
        </p:nvSpPr>
        <p:spPr>
          <a:xfrm>
            <a:off x="274320" y="1819800"/>
            <a:ext cx="3840120" cy="383760"/>
          </a:xfrm>
          <a:prstGeom prst="rect">
            <a:avLst/>
          </a:prstGeom>
          <a:solidFill>
            <a:srgbClr val="ef4444">
              <a:alpha val="7000"/>
            </a:srgbClr>
          </a:solidFill>
          <a:ln w="12700">
            <a:solidFill>
              <a:srgbClr val="ef4444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Shape 14"/>
          <p:cNvSpPr/>
          <p:nvPr/>
        </p:nvSpPr>
        <p:spPr>
          <a:xfrm>
            <a:off x="274320" y="1819800"/>
            <a:ext cx="54360" cy="383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15"/>
          <p:cNvSpPr/>
          <p:nvPr/>
        </p:nvSpPr>
        <p:spPr>
          <a:xfrm>
            <a:off x="411480" y="1865520"/>
            <a:ext cx="3565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50" spc="-1" strike="noStrike">
                <a:solidFill>
                  <a:srgbClr val="ef4444"/>
                </a:solidFill>
                <a:latin typeface="Consolas"/>
                <a:ea typeface="Consolas"/>
              </a:rPr>
              <a:t>"Publication Year"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16"/>
          <p:cNvSpPr/>
          <p:nvPr/>
        </p:nvSpPr>
        <p:spPr>
          <a:xfrm>
            <a:off x="4206240" y="1892880"/>
            <a:ext cx="54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-1" strike="noStrike">
                <a:solidFill>
                  <a:srgbClr val="7c3aed"/>
                </a:solidFill>
                <a:latin typeface="Calibri"/>
              </a:rPr>
              <a:t>--&gt;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17"/>
          <p:cNvSpPr/>
          <p:nvPr/>
        </p:nvSpPr>
        <p:spPr>
          <a:xfrm>
            <a:off x="4846320" y="1819800"/>
            <a:ext cx="4023000" cy="383760"/>
          </a:xfrm>
          <a:prstGeom prst="rect">
            <a:avLst/>
          </a:prstGeom>
          <a:solidFill>
            <a:srgbClr val="10b981">
              <a:alpha val="7000"/>
            </a:srgbClr>
          </a:solidFill>
          <a:ln w="12700">
            <a:solidFill>
              <a:srgbClr val="10b981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Shape 18"/>
          <p:cNvSpPr/>
          <p:nvPr/>
        </p:nvSpPr>
        <p:spPr>
          <a:xfrm>
            <a:off x="4846320" y="1819800"/>
            <a:ext cx="54360" cy="383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19"/>
          <p:cNvSpPr/>
          <p:nvPr/>
        </p:nvSpPr>
        <p:spPr>
          <a:xfrm>
            <a:off x="4983480" y="1865520"/>
            <a:ext cx="3748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50" spc="-1" strike="noStrike">
                <a:solidFill>
                  <a:srgbClr val="10b981"/>
                </a:solidFill>
                <a:latin typeface="Consolas"/>
                <a:ea typeface="Consolas"/>
              </a:rPr>
              <a:t>"Annee de publication"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20"/>
          <p:cNvSpPr/>
          <p:nvPr/>
        </p:nvSpPr>
        <p:spPr>
          <a:xfrm>
            <a:off x="274320" y="2267640"/>
            <a:ext cx="3840120" cy="383760"/>
          </a:xfrm>
          <a:prstGeom prst="rect">
            <a:avLst/>
          </a:prstGeom>
          <a:solidFill>
            <a:srgbClr val="ef4444">
              <a:alpha val="7000"/>
            </a:srgbClr>
          </a:solidFill>
          <a:ln w="12700">
            <a:solidFill>
              <a:srgbClr val="ef4444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Shape 21"/>
          <p:cNvSpPr/>
          <p:nvPr/>
        </p:nvSpPr>
        <p:spPr>
          <a:xfrm>
            <a:off x="274320" y="2267640"/>
            <a:ext cx="54360" cy="383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22"/>
          <p:cNvSpPr/>
          <p:nvPr/>
        </p:nvSpPr>
        <p:spPr>
          <a:xfrm>
            <a:off x="411480" y="2313360"/>
            <a:ext cx="3565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50" spc="-1" strike="noStrike">
                <a:solidFill>
                  <a:srgbClr val="ef4444"/>
                </a:solidFill>
                <a:latin typeface="Consolas"/>
                <a:ea typeface="Consolas"/>
              </a:rPr>
              <a:t>"Publication Number"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23"/>
          <p:cNvSpPr/>
          <p:nvPr/>
        </p:nvSpPr>
        <p:spPr>
          <a:xfrm>
            <a:off x="4206240" y="2340720"/>
            <a:ext cx="54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-1" strike="noStrike">
                <a:solidFill>
                  <a:srgbClr val="7c3aed"/>
                </a:solidFill>
                <a:latin typeface="Calibri"/>
              </a:rPr>
              <a:t>--&gt;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24"/>
          <p:cNvSpPr/>
          <p:nvPr/>
        </p:nvSpPr>
        <p:spPr>
          <a:xfrm>
            <a:off x="4846320" y="2267640"/>
            <a:ext cx="4023000" cy="383760"/>
          </a:xfrm>
          <a:prstGeom prst="rect">
            <a:avLst/>
          </a:prstGeom>
          <a:solidFill>
            <a:srgbClr val="10b981">
              <a:alpha val="7000"/>
            </a:srgbClr>
          </a:solidFill>
          <a:ln w="12700">
            <a:solidFill>
              <a:srgbClr val="10b981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Shape 25"/>
          <p:cNvSpPr/>
          <p:nvPr/>
        </p:nvSpPr>
        <p:spPr>
          <a:xfrm>
            <a:off x="4846320" y="2267640"/>
            <a:ext cx="54360" cy="383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26"/>
          <p:cNvSpPr/>
          <p:nvPr/>
        </p:nvSpPr>
        <p:spPr>
          <a:xfrm>
            <a:off x="4983480" y="2313360"/>
            <a:ext cx="3748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50" spc="-1" strike="noStrike">
                <a:solidFill>
                  <a:srgbClr val="10b981"/>
                </a:solidFill>
                <a:latin typeface="Consolas"/>
                <a:ea typeface="Consolas"/>
              </a:rPr>
              <a:t>"Numero de publication"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27"/>
          <p:cNvSpPr/>
          <p:nvPr/>
        </p:nvSpPr>
        <p:spPr>
          <a:xfrm>
            <a:off x="274320" y="2715840"/>
            <a:ext cx="3840120" cy="383760"/>
          </a:xfrm>
          <a:prstGeom prst="rect">
            <a:avLst/>
          </a:prstGeom>
          <a:solidFill>
            <a:srgbClr val="ef4444">
              <a:alpha val="7000"/>
            </a:srgbClr>
          </a:solidFill>
          <a:ln w="12700">
            <a:solidFill>
              <a:srgbClr val="ef4444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28"/>
          <p:cNvSpPr/>
          <p:nvPr/>
        </p:nvSpPr>
        <p:spPr>
          <a:xfrm>
            <a:off x="274320" y="2715840"/>
            <a:ext cx="54360" cy="383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29"/>
          <p:cNvSpPr/>
          <p:nvPr/>
        </p:nvSpPr>
        <p:spPr>
          <a:xfrm>
            <a:off x="411480" y="2761560"/>
            <a:ext cx="3565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50" spc="-1" strike="noStrike">
                <a:solidFill>
                  <a:srgbClr val="ef4444"/>
                </a:solidFill>
                <a:latin typeface="Consolas"/>
                <a:ea typeface="Consolas"/>
              </a:rPr>
              <a:t>"Legal Status"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30"/>
          <p:cNvSpPr/>
          <p:nvPr/>
        </p:nvSpPr>
        <p:spPr>
          <a:xfrm>
            <a:off x="4206240" y="2788920"/>
            <a:ext cx="54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-1" strike="noStrike">
                <a:solidFill>
                  <a:srgbClr val="7c3aed"/>
                </a:solidFill>
                <a:latin typeface="Calibri"/>
              </a:rPr>
              <a:t>--&gt;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31"/>
          <p:cNvSpPr/>
          <p:nvPr/>
        </p:nvSpPr>
        <p:spPr>
          <a:xfrm>
            <a:off x="4846320" y="2715840"/>
            <a:ext cx="4023000" cy="383760"/>
          </a:xfrm>
          <a:prstGeom prst="rect">
            <a:avLst/>
          </a:prstGeom>
          <a:solidFill>
            <a:srgbClr val="10b981">
              <a:alpha val="7000"/>
            </a:srgbClr>
          </a:solidFill>
          <a:ln w="12700">
            <a:solidFill>
              <a:srgbClr val="10b981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Shape 32"/>
          <p:cNvSpPr/>
          <p:nvPr/>
        </p:nvSpPr>
        <p:spPr>
          <a:xfrm>
            <a:off x="4846320" y="2715840"/>
            <a:ext cx="54360" cy="383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33"/>
          <p:cNvSpPr/>
          <p:nvPr/>
        </p:nvSpPr>
        <p:spPr>
          <a:xfrm>
            <a:off x="4983480" y="2761560"/>
            <a:ext cx="3748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50" spc="-1" strike="noStrike">
                <a:solidFill>
                  <a:srgbClr val="10b981"/>
                </a:solidFill>
                <a:latin typeface="Consolas"/>
                <a:ea typeface="Consolas"/>
              </a:rPr>
              <a:t>"Statut legal"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34"/>
          <p:cNvSpPr/>
          <p:nvPr/>
        </p:nvSpPr>
        <p:spPr>
          <a:xfrm>
            <a:off x="274320" y="3163680"/>
            <a:ext cx="3840120" cy="383760"/>
          </a:xfrm>
          <a:prstGeom prst="rect">
            <a:avLst/>
          </a:prstGeom>
          <a:solidFill>
            <a:srgbClr val="ef4444">
              <a:alpha val="7000"/>
            </a:srgbClr>
          </a:solidFill>
          <a:ln w="12700">
            <a:solidFill>
              <a:srgbClr val="ef4444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Shape 35"/>
          <p:cNvSpPr/>
          <p:nvPr/>
        </p:nvSpPr>
        <p:spPr>
          <a:xfrm>
            <a:off x="274320" y="3163680"/>
            <a:ext cx="54360" cy="383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36"/>
          <p:cNvSpPr/>
          <p:nvPr/>
        </p:nvSpPr>
        <p:spPr>
          <a:xfrm>
            <a:off x="411480" y="3209400"/>
            <a:ext cx="3565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50" spc="-1" strike="noStrike">
                <a:solidFill>
                  <a:srgbClr val="ef4444"/>
                </a:solidFill>
                <a:latin typeface="Consolas"/>
                <a:ea typeface="Consolas"/>
              </a:rPr>
              <a:t>"Applicants"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37"/>
          <p:cNvSpPr/>
          <p:nvPr/>
        </p:nvSpPr>
        <p:spPr>
          <a:xfrm>
            <a:off x="4206240" y="3237120"/>
            <a:ext cx="54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-1" strike="noStrike">
                <a:solidFill>
                  <a:srgbClr val="7c3aed"/>
                </a:solidFill>
                <a:latin typeface="Calibri"/>
              </a:rPr>
              <a:t>--&gt;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38"/>
          <p:cNvSpPr/>
          <p:nvPr/>
        </p:nvSpPr>
        <p:spPr>
          <a:xfrm>
            <a:off x="4846320" y="3163680"/>
            <a:ext cx="4023000" cy="383760"/>
          </a:xfrm>
          <a:prstGeom prst="rect">
            <a:avLst/>
          </a:prstGeom>
          <a:solidFill>
            <a:srgbClr val="10b981">
              <a:alpha val="7000"/>
            </a:srgbClr>
          </a:solidFill>
          <a:ln w="12700">
            <a:solidFill>
              <a:srgbClr val="10b981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Shape 39"/>
          <p:cNvSpPr/>
          <p:nvPr/>
        </p:nvSpPr>
        <p:spPr>
          <a:xfrm>
            <a:off x="4846320" y="3163680"/>
            <a:ext cx="54360" cy="383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40"/>
          <p:cNvSpPr/>
          <p:nvPr/>
        </p:nvSpPr>
        <p:spPr>
          <a:xfrm>
            <a:off x="4983480" y="3209400"/>
            <a:ext cx="3748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50" spc="-1" strike="noStrike">
                <a:solidFill>
                  <a:srgbClr val="10b981"/>
                </a:solidFill>
                <a:latin typeface="Consolas"/>
                <a:ea typeface="Consolas"/>
              </a:rPr>
              <a:t>"Candidats"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41"/>
          <p:cNvSpPr/>
          <p:nvPr/>
        </p:nvSpPr>
        <p:spPr>
          <a:xfrm>
            <a:off x="274320" y="3611880"/>
            <a:ext cx="3840120" cy="383760"/>
          </a:xfrm>
          <a:prstGeom prst="rect">
            <a:avLst/>
          </a:prstGeom>
          <a:solidFill>
            <a:srgbClr val="ef4444">
              <a:alpha val="7000"/>
            </a:srgbClr>
          </a:solidFill>
          <a:ln w="12700">
            <a:solidFill>
              <a:srgbClr val="ef4444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Shape 42"/>
          <p:cNvSpPr/>
          <p:nvPr/>
        </p:nvSpPr>
        <p:spPr>
          <a:xfrm>
            <a:off x="274320" y="3611880"/>
            <a:ext cx="54360" cy="383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43"/>
          <p:cNvSpPr/>
          <p:nvPr/>
        </p:nvSpPr>
        <p:spPr>
          <a:xfrm>
            <a:off x="411480" y="3657600"/>
            <a:ext cx="3565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50" spc="-1" strike="noStrike">
                <a:solidFill>
                  <a:srgbClr val="ef4444"/>
                </a:solidFill>
                <a:latin typeface="Consolas"/>
                <a:ea typeface="Consolas"/>
              </a:rPr>
              <a:t>"Title"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44"/>
          <p:cNvSpPr/>
          <p:nvPr/>
        </p:nvSpPr>
        <p:spPr>
          <a:xfrm>
            <a:off x="4206240" y="3684960"/>
            <a:ext cx="54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-1" strike="noStrike">
                <a:solidFill>
                  <a:srgbClr val="7c3aed"/>
                </a:solidFill>
                <a:latin typeface="Calibri"/>
              </a:rPr>
              <a:t>--&gt;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45"/>
          <p:cNvSpPr/>
          <p:nvPr/>
        </p:nvSpPr>
        <p:spPr>
          <a:xfrm>
            <a:off x="4846320" y="3611880"/>
            <a:ext cx="4023000" cy="383760"/>
          </a:xfrm>
          <a:prstGeom prst="rect">
            <a:avLst/>
          </a:prstGeom>
          <a:solidFill>
            <a:srgbClr val="10b981">
              <a:alpha val="7000"/>
            </a:srgbClr>
          </a:solidFill>
          <a:ln w="12700">
            <a:solidFill>
              <a:srgbClr val="10b981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Shape 46"/>
          <p:cNvSpPr/>
          <p:nvPr/>
        </p:nvSpPr>
        <p:spPr>
          <a:xfrm>
            <a:off x="4846320" y="3611880"/>
            <a:ext cx="54360" cy="383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47"/>
          <p:cNvSpPr/>
          <p:nvPr/>
        </p:nvSpPr>
        <p:spPr>
          <a:xfrm>
            <a:off x="4983480" y="3657600"/>
            <a:ext cx="3748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50" spc="-1" strike="noStrike">
                <a:solidFill>
                  <a:srgbClr val="10b981"/>
                </a:solidFill>
                <a:latin typeface="Consolas"/>
                <a:ea typeface="Consolas"/>
              </a:rPr>
              <a:t>"Titre"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48"/>
          <p:cNvSpPr/>
          <p:nvPr/>
        </p:nvSpPr>
        <p:spPr>
          <a:xfrm>
            <a:off x="274320" y="4060080"/>
            <a:ext cx="3840120" cy="383760"/>
          </a:xfrm>
          <a:prstGeom prst="rect">
            <a:avLst/>
          </a:prstGeom>
          <a:solidFill>
            <a:srgbClr val="ef4444">
              <a:alpha val="7000"/>
            </a:srgbClr>
          </a:solidFill>
          <a:ln w="12700">
            <a:solidFill>
              <a:srgbClr val="ef4444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Shape 49"/>
          <p:cNvSpPr/>
          <p:nvPr/>
        </p:nvSpPr>
        <p:spPr>
          <a:xfrm>
            <a:off x="274320" y="4060080"/>
            <a:ext cx="54360" cy="383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50"/>
          <p:cNvSpPr/>
          <p:nvPr/>
        </p:nvSpPr>
        <p:spPr>
          <a:xfrm>
            <a:off x="411480" y="4105800"/>
            <a:ext cx="3565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50" spc="-1" strike="noStrike">
                <a:solidFill>
                  <a:srgbClr val="ef4444"/>
                </a:solidFill>
                <a:latin typeface="Consolas"/>
                <a:ea typeface="Consolas"/>
              </a:rPr>
              <a:t>"Abstract"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51"/>
          <p:cNvSpPr/>
          <p:nvPr/>
        </p:nvSpPr>
        <p:spPr>
          <a:xfrm>
            <a:off x="4206240" y="4133160"/>
            <a:ext cx="54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-1" strike="noStrike">
                <a:solidFill>
                  <a:srgbClr val="7c3aed"/>
                </a:solidFill>
                <a:latin typeface="Calibri"/>
              </a:rPr>
              <a:t>--&gt;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52"/>
          <p:cNvSpPr/>
          <p:nvPr/>
        </p:nvSpPr>
        <p:spPr>
          <a:xfrm>
            <a:off x="4846320" y="4060080"/>
            <a:ext cx="4023000" cy="383760"/>
          </a:xfrm>
          <a:prstGeom prst="rect">
            <a:avLst/>
          </a:prstGeom>
          <a:solidFill>
            <a:srgbClr val="10b981">
              <a:alpha val="7000"/>
            </a:srgbClr>
          </a:solidFill>
          <a:ln w="12700">
            <a:solidFill>
              <a:srgbClr val="10b981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Shape 53"/>
          <p:cNvSpPr/>
          <p:nvPr/>
        </p:nvSpPr>
        <p:spPr>
          <a:xfrm>
            <a:off x="4846320" y="4060080"/>
            <a:ext cx="54360" cy="383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54"/>
          <p:cNvSpPr/>
          <p:nvPr/>
        </p:nvSpPr>
        <p:spPr>
          <a:xfrm>
            <a:off x="4983480" y="4105800"/>
            <a:ext cx="3748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50" spc="-1" strike="noStrike">
                <a:solidFill>
                  <a:srgbClr val="10b981"/>
                </a:solidFill>
                <a:latin typeface="Consolas"/>
                <a:ea typeface="Consolas"/>
              </a:rPr>
              <a:t>"Resume"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55"/>
          <p:cNvSpPr/>
          <p:nvPr/>
        </p:nvSpPr>
        <p:spPr>
          <a:xfrm>
            <a:off x="274320" y="4507920"/>
            <a:ext cx="3840120" cy="383760"/>
          </a:xfrm>
          <a:prstGeom prst="rect">
            <a:avLst/>
          </a:prstGeom>
          <a:solidFill>
            <a:srgbClr val="ef4444">
              <a:alpha val="7000"/>
            </a:srgbClr>
          </a:solidFill>
          <a:ln w="12700">
            <a:solidFill>
              <a:srgbClr val="ef4444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Shape 56"/>
          <p:cNvSpPr/>
          <p:nvPr/>
        </p:nvSpPr>
        <p:spPr>
          <a:xfrm>
            <a:off x="274320" y="4507920"/>
            <a:ext cx="54360" cy="383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57"/>
          <p:cNvSpPr/>
          <p:nvPr/>
        </p:nvSpPr>
        <p:spPr>
          <a:xfrm>
            <a:off x="411480" y="4553640"/>
            <a:ext cx="3565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50" spc="-1" strike="noStrike">
                <a:solidFill>
                  <a:srgbClr val="ef4444"/>
                </a:solidFill>
                <a:latin typeface="Consolas"/>
                <a:ea typeface="Consolas"/>
              </a:rPr>
              <a:t>"Cited by count"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58"/>
          <p:cNvSpPr/>
          <p:nvPr/>
        </p:nvSpPr>
        <p:spPr>
          <a:xfrm>
            <a:off x="4206240" y="4581000"/>
            <a:ext cx="54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-1" strike="noStrike">
                <a:solidFill>
                  <a:srgbClr val="7c3aed"/>
                </a:solidFill>
                <a:latin typeface="Calibri"/>
              </a:rPr>
              <a:t>--&gt;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59"/>
          <p:cNvSpPr/>
          <p:nvPr/>
        </p:nvSpPr>
        <p:spPr>
          <a:xfrm>
            <a:off x="4846320" y="4507920"/>
            <a:ext cx="4023000" cy="383760"/>
          </a:xfrm>
          <a:prstGeom prst="rect">
            <a:avLst/>
          </a:prstGeom>
          <a:solidFill>
            <a:srgbClr val="10b981">
              <a:alpha val="7000"/>
            </a:srgbClr>
          </a:solidFill>
          <a:ln w="12700">
            <a:solidFill>
              <a:srgbClr val="10b981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Shape 60"/>
          <p:cNvSpPr/>
          <p:nvPr/>
        </p:nvSpPr>
        <p:spPr>
          <a:xfrm>
            <a:off x="4846320" y="4507920"/>
            <a:ext cx="54360" cy="383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61"/>
          <p:cNvSpPr/>
          <p:nvPr/>
        </p:nvSpPr>
        <p:spPr>
          <a:xfrm>
            <a:off x="4983480" y="4553640"/>
            <a:ext cx="3748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50" spc="-1" strike="noStrike">
                <a:solidFill>
                  <a:srgbClr val="10b981"/>
                </a:solidFill>
                <a:latin typeface="Consolas"/>
                <a:ea typeface="Consolas"/>
              </a:rPr>
              <a:t>"Cite par nombre de brevets"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62"/>
          <p:cNvSpPr/>
          <p:nvPr/>
        </p:nvSpPr>
        <p:spPr>
          <a:xfrm>
            <a:off x="274320" y="4736520"/>
            <a:ext cx="8595000" cy="255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63"/>
          <p:cNvSpPr/>
          <p:nvPr/>
        </p:nvSpPr>
        <p:spPr>
          <a:xfrm>
            <a:off x="365760" y="473652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50" spc="-1" strike="noStrike">
                <a:solidFill>
                  <a:srgbClr val="a5b4fc"/>
                </a:solidFill>
                <a:latin typeface="Consolas"/>
                <a:ea typeface="Consolas"/>
              </a:rPr>
              <a:t>db.brevets.updateMany({ "Publication Year": { $exists: true } }, { $rename: { "Jurisdiction": "Juridiction", ... } })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Shape 1"/>
          <p:cNvSpPr/>
          <p:nvPr/>
        </p:nvSpPr>
        <p:spPr>
          <a:xfrm>
            <a:off x="0" y="0"/>
            <a:ext cx="109440" cy="914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2"/>
          <p:cNvSpPr/>
          <p:nvPr/>
        </p:nvSpPr>
        <p:spPr>
          <a:xfrm>
            <a:off x="274320" y="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199" strike="noStrike">
                <a:solidFill>
                  <a:srgbClr val="a855f7"/>
                </a:solidFill>
                <a:latin typeface="Calibri"/>
              </a:rPr>
              <a:t>ETAPE 3 — NETTOYAGE (suite)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3"/>
          <p:cNvSpPr/>
          <p:nvPr/>
        </p:nvSpPr>
        <p:spPr>
          <a:xfrm>
            <a:off x="274320" y="3474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200" spc="-1" strike="noStrike">
                <a:solidFill>
                  <a:srgbClr val="ffffff"/>
                </a:solidFill>
                <a:latin typeface="Calibri"/>
              </a:rPr>
              <a:t>Suppression Doublons &amp; Valeurs Manquantes (P2, P3)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4"/>
          <p:cNvSpPr/>
          <p:nvPr/>
        </p:nvSpPr>
        <p:spPr>
          <a:xfrm>
            <a:off x="274320" y="1051560"/>
            <a:ext cx="4023000" cy="374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5"/>
          <p:cNvSpPr/>
          <p:nvPr/>
        </p:nvSpPr>
        <p:spPr>
          <a:xfrm>
            <a:off x="274320" y="1051560"/>
            <a:ext cx="4023000" cy="63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6"/>
          <p:cNvSpPr/>
          <p:nvPr/>
        </p:nvSpPr>
        <p:spPr>
          <a:xfrm>
            <a:off x="457200" y="117036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200" spc="-1" strike="noStrike">
                <a:solidFill>
                  <a:srgbClr val="f59e0b"/>
                </a:solidFill>
                <a:latin typeface="Calibri"/>
              </a:rPr>
              <a:t>P2 — Suppression des doublons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7"/>
          <p:cNvSpPr/>
          <p:nvPr/>
        </p:nvSpPr>
        <p:spPr>
          <a:xfrm>
            <a:off x="411480" y="1673280"/>
            <a:ext cx="347040" cy="347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8"/>
          <p:cNvSpPr/>
          <p:nvPr/>
        </p:nvSpPr>
        <p:spPr>
          <a:xfrm>
            <a:off x="411480" y="16732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9"/>
          <p:cNvSpPr/>
          <p:nvPr/>
        </p:nvSpPr>
        <p:spPr>
          <a:xfrm>
            <a:off x="868680" y="166428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-1" strike="noStrike">
                <a:solidFill>
                  <a:srgbClr val="1e293b"/>
                </a:solidFill>
                <a:latin typeface="Calibri"/>
              </a:rPr>
              <a:t>Detection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10"/>
          <p:cNvSpPr/>
          <p:nvPr/>
        </p:nvSpPr>
        <p:spPr>
          <a:xfrm>
            <a:off x="868680" y="192924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50" spc="-1" strike="noStrike">
                <a:solidFill>
                  <a:srgbClr val="64748b"/>
                </a:solidFill>
                <a:latin typeface="Calibri"/>
                <a:ea typeface="Calibri"/>
              </a:rPr>
              <a:t>Grouper par Identifiant de The Lens et compter les occurrences &gt; 1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11"/>
          <p:cNvSpPr/>
          <p:nvPr/>
        </p:nvSpPr>
        <p:spPr>
          <a:xfrm>
            <a:off x="411480" y="2432160"/>
            <a:ext cx="347040" cy="347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12"/>
          <p:cNvSpPr/>
          <p:nvPr/>
        </p:nvSpPr>
        <p:spPr>
          <a:xfrm>
            <a:off x="411480" y="24321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13"/>
          <p:cNvSpPr/>
          <p:nvPr/>
        </p:nvSpPr>
        <p:spPr>
          <a:xfrm>
            <a:off x="868680" y="242316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-1" strike="noStrike">
                <a:solidFill>
                  <a:srgbClr val="1e293b"/>
                </a:solidFill>
                <a:latin typeface="Calibri"/>
              </a:rPr>
              <a:t>Quantification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14"/>
          <p:cNvSpPr/>
          <p:nvPr/>
        </p:nvSpPr>
        <p:spPr>
          <a:xfrm>
            <a:off x="868680" y="268848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50" spc="-1" strike="noStrike">
                <a:solidFill>
                  <a:srgbClr val="64748b"/>
                </a:solidFill>
                <a:latin typeface="Calibri"/>
                <a:ea typeface="Calibri"/>
              </a:rPr>
              <a:t>1 000 doublons identifies dans la collection brevets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15"/>
          <p:cNvSpPr/>
          <p:nvPr/>
        </p:nvSpPr>
        <p:spPr>
          <a:xfrm>
            <a:off x="411480" y="3191400"/>
            <a:ext cx="347040" cy="347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16"/>
          <p:cNvSpPr/>
          <p:nvPr/>
        </p:nvSpPr>
        <p:spPr>
          <a:xfrm>
            <a:off x="411480" y="31914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17"/>
          <p:cNvSpPr/>
          <p:nvPr/>
        </p:nvSpPr>
        <p:spPr>
          <a:xfrm>
            <a:off x="868680" y="318204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-1" strike="noStrike">
                <a:solidFill>
                  <a:srgbClr val="1e293b"/>
                </a:solidFill>
                <a:latin typeface="Calibri"/>
              </a:rPr>
              <a:t>Suppression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18"/>
          <p:cNvSpPr/>
          <p:nvPr/>
        </p:nvSpPr>
        <p:spPr>
          <a:xfrm>
            <a:off x="868680" y="344736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50" spc="-1" strike="noStrike">
                <a:solidFill>
                  <a:srgbClr val="64748b"/>
                </a:solidFill>
                <a:latin typeface="Calibri"/>
                <a:ea typeface="Calibri"/>
              </a:rPr>
              <a:t>Conserver le premier document, supprimer les duplicatas via aggregation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19"/>
          <p:cNvSpPr/>
          <p:nvPr/>
        </p:nvSpPr>
        <p:spPr>
          <a:xfrm>
            <a:off x="411480" y="3950280"/>
            <a:ext cx="347040" cy="347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20"/>
          <p:cNvSpPr/>
          <p:nvPr/>
        </p:nvSpPr>
        <p:spPr>
          <a:xfrm>
            <a:off x="411480" y="39502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ffffff"/>
                </a:solidFill>
                <a:latin typeface="Calibri"/>
              </a:rPr>
              <a:t>04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21"/>
          <p:cNvSpPr/>
          <p:nvPr/>
        </p:nvSpPr>
        <p:spPr>
          <a:xfrm>
            <a:off x="868680" y="394092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-1" strike="noStrike">
                <a:solidFill>
                  <a:srgbClr val="1e293b"/>
                </a:solidFill>
                <a:latin typeface="Calibri"/>
              </a:rPr>
              <a:t>Verification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22"/>
          <p:cNvSpPr/>
          <p:nvPr/>
        </p:nvSpPr>
        <p:spPr>
          <a:xfrm>
            <a:off x="868680" y="420624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50" spc="-1" strike="noStrike">
                <a:solidFill>
                  <a:srgbClr val="64748b"/>
                </a:solidFill>
                <a:latin typeface="Calibri"/>
                <a:ea typeface="Calibri"/>
              </a:rPr>
              <a:t>db.brevets.countDocuments() = 100 000 (avant: 101 000)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23"/>
          <p:cNvSpPr/>
          <p:nvPr/>
        </p:nvSpPr>
        <p:spPr>
          <a:xfrm>
            <a:off x="4754880" y="1051560"/>
            <a:ext cx="4023000" cy="374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24"/>
          <p:cNvSpPr/>
          <p:nvPr/>
        </p:nvSpPr>
        <p:spPr>
          <a:xfrm>
            <a:off x="4754880" y="1051560"/>
            <a:ext cx="4023000" cy="63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25"/>
          <p:cNvSpPr/>
          <p:nvPr/>
        </p:nvSpPr>
        <p:spPr>
          <a:xfrm>
            <a:off x="4892040" y="1170360"/>
            <a:ext cx="3748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200" spc="-1" strike="noStrike">
                <a:solidFill>
                  <a:srgbClr val="7c3aed"/>
                </a:solidFill>
                <a:latin typeface="Calibri"/>
              </a:rPr>
              <a:t>P3 — Traitement des valeurs manquantes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26"/>
          <p:cNvSpPr/>
          <p:nvPr/>
        </p:nvSpPr>
        <p:spPr>
          <a:xfrm>
            <a:off x="4800600" y="162756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97" strike="noStrike">
                <a:solidFill>
                  <a:srgbClr val="64748b"/>
                </a:solidFill>
                <a:latin typeface="Calibri"/>
              </a:rPr>
              <a:t>Champ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27"/>
          <p:cNvSpPr/>
          <p:nvPr/>
        </p:nvSpPr>
        <p:spPr>
          <a:xfrm>
            <a:off x="6080760" y="162756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97" strike="noStrike">
                <a:solidFill>
                  <a:srgbClr val="64748b"/>
                </a:solidFill>
                <a:latin typeface="Calibri"/>
              </a:rPr>
              <a:t>Avant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28"/>
          <p:cNvSpPr/>
          <p:nvPr/>
        </p:nvSpPr>
        <p:spPr>
          <a:xfrm>
            <a:off x="7360920" y="162756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97" strike="noStrike">
                <a:solidFill>
                  <a:srgbClr val="64748b"/>
                </a:solidFill>
                <a:latin typeface="Calibri"/>
              </a:rPr>
              <a:t>Apres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29"/>
          <p:cNvSpPr/>
          <p:nvPr/>
        </p:nvSpPr>
        <p:spPr>
          <a:xfrm>
            <a:off x="4800600" y="1965960"/>
            <a:ext cx="3840120" cy="548280"/>
          </a:xfrm>
          <a:prstGeom prst="rect">
            <a:avLst/>
          </a:prstGeom>
          <a:solidFill>
            <a:srgbClr val="ef4444">
              <a:alpha val="6000"/>
            </a:srgbClr>
          </a:solidFill>
          <a:ln w="12700">
            <a:solidFill>
              <a:srgbClr val="ef4444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Shape 30"/>
          <p:cNvSpPr/>
          <p:nvPr/>
        </p:nvSpPr>
        <p:spPr>
          <a:xfrm>
            <a:off x="4800600" y="1965960"/>
            <a:ext cx="45360" cy="548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31"/>
          <p:cNvSpPr/>
          <p:nvPr/>
        </p:nvSpPr>
        <p:spPr>
          <a:xfrm>
            <a:off x="4892040" y="2057400"/>
            <a:ext cx="1234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1e293b"/>
                </a:solidFill>
                <a:latin typeface="Calibri"/>
              </a:rPr>
              <a:t>Statut legal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32"/>
          <p:cNvSpPr/>
          <p:nvPr/>
        </p:nvSpPr>
        <p:spPr>
          <a:xfrm>
            <a:off x="6080760" y="2057400"/>
            <a:ext cx="1234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50" spc="-1" strike="noStrike">
                <a:solidFill>
                  <a:srgbClr val="ef4444"/>
                </a:solidFill>
                <a:latin typeface="Consolas"/>
                <a:ea typeface="Consolas"/>
              </a:rPr>
              <a:t>NULL (50 103 docs)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33"/>
          <p:cNvSpPr/>
          <p:nvPr/>
        </p:nvSpPr>
        <p:spPr>
          <a:xfrm>
            <a:off x="7360920" y="2057400"/>
            <a:ext cx="1234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50" spc="-1" strike="noStrike">
                <a:solidFill>
                  <a:srgbClr val="10b981"/>
                </a:solidFill>
                <a:latin typeface="Consolas"/>
                <a:ea typeface="Consolas"/>
              </a:rPr>
              <a:t>"UNKNOWN"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34"/>
          <p:cNvSpPr/>
          <p:nvPr/>
        </p:nvSpPr>
        <p:spPr>
          <a:xfrm>
            <a:off x="4800600" y="2624400"/>
            <a:ext cx="3840120" cy="548280"/>
          </a:xfrm>
          <a:prstGeom prst="rect">
            <a:avLst/>
          </a:prstGeom>
          <a:solidFill>
            <a:srgbClr val="f59e0b">
              <a:alpha val="6000"/>
            </a:srgbClr>
          </a:solidFill>
          <a:ln w="12700">
            <a:solidFill>
              <a:srgbClr val="f59e0b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35"/>
          <p:cNvSpPr/>
          <p:nvPr/>
        </p:nvSpPr>
        <p:spPr>
          <a:xfrm>
            <a:off x="4800600" y="2624400"/>
            <a:ext cx="45360" cy="548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36"/>
          <p:cNvSpPr/>
          <p:nvPr/>
        </p:nvSpPr>
        <p:spPr>
          <a:xfrm>
            <a:off x="4892040" y="2715840"/>
            <a:ext cx="1234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1e293b"/>
                </a:solidFill>
                <a:latin typeface="Calibri"/>
              </a:rPr>
              <a:t>Nombre de sequences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37"/>
          <p:cNvSpPr/>
          <p:nvPr/>
        </p:nvSpPr>
        <p:spPr>
          <a:xfrm>
            <a:off x="6080760" y="2715840"/>
            <a:ext cx="1234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50" spc="-1" strike="noStrike">
                <a:solidFill>
                  <a:srgbClr val="ef4444"/>
                </a:solidFill>
                <a:latin typeface="Consolas"/>
                <a:ea typeface="Consolas"/>
              </a:rPr>
              <a:t>NULL (50 103 docs)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38"/>
          <p:cNvSpPr/>
          <p:nvPr/>
        </p:nvSpPr>
        <p:spPr>
          <a:xfrm>
            <a:off x="7360920" y="2715840"/>
            <a:ext cx="1234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50" spc="-1" strike="noStrike">
                <a:solidFill>
                  <a:srgbClr val="10b981"/>
                </a:solidFill>
                <a:latin typeface="Consolas"/>
                <a:ea typeface="Consolas"/>
              </a:rPr>
              <a:t>0 (valeur par defaut)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39"/>
          <p:cNvSpPr/>
          <p:nvPr/>
        </p:nvSpPr>
        <p:spPr>
          <a:xfrm>
            <a:off x="4800600" y="3282840"/>
            <a:ext cx="3840120" cy="548280"/>
          </a:xfrm>
          <a:prstGeom prst="rect">
            <a:avLst/>
          </a:prstGeom>
          <a:solidFill>
            <a:srgbClr val="3b82f6">
              <a:alpha val="6000"/>
            </a:srgbClr>
          </a:solidFill>
          <a:ln w="12700">
            <a:solidFill>
              <a:srgbClr val="3b82f6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Shape 40"/>
          <p:cNvSpPr/>
          <p:nvPr/>
        </p:nvSpPr>
        <p:spPr>
          <a:xfrm>
            <a:off x="4800600" y="3282840"/>
            <a:ext cx="45360" cy="548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41"/>
          <p:cNvSpPr/>
          <p:nvPr/>
        </p:nvSpPr>
        <p:spPr>
          <a:xfrm>
            <a:off x="4892040" y="3374280"/>
            <a:ext cx="1234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1e293b"/>
                </a:solidFill>
                <a:latin typeface="Calibri"/>
              </a:rPr>
              <a:t>Proprietaires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42"/>
          <p:cNvSpPr/>
          <p:nvPr/>
        </p:nvSpPr>
        <p:spPr>
          <a:xfrm>
            <a:off x="6080760" y="3374280"/>
            <a:ext cx="1234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50" spc="-1" strike="noStrike">
                <a:solidFill>
                  <a:srgbClr val="ef4444"/>
                </a:solidFill>
                <a:latin typeface="Consolas"/>
                <a:ea typeface="Consolas"/>
              </a:rPr>
              <a:t>NULL (50 103 docs)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43"/>
          <p:cNvSpPr/>
          <p:nvPr/>
        </p:nvSpPr>
        <p:spPr>
          <a:xfrm>
            <a:off x="7360920" y="3374280"/>
            <a:ext cx="1234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50" spc="-1" strike="noStrike">
                <a:solidFill>
                  <a:srgbClr val="10b981"/>
                </a:solidFill>
                <a:latin typeface="Consolas"/>
                <a:ea typeface="Consolas"/>
              </a:rPr>
              <a:t>"" (chaine vide)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44"/>
          <p:cNvSpPr/>
          <p:nvPr/>
        </p:nvSpPr>
        <p:spPr>
          <a:xfrm>
            <a:off x="4800600" y="3940920"/>
            <a:ext cx="3840120" cy="548280"/>
          </a:xfrm>
          <a:prstGeom prst="rect">
            <a:avLst/>
          </a:prstGeom>
          <a:solidFill>
            <a:srgbClr val="7c3aed">
              <a:alpha val="6000"/>
            </a:srgbClr>
          </a:solidFill>
          <a:ln w="12700">
            <a:solidFill>
              <a:srgbClr val="7c3aed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Shape 45"/>
          <p:cNvSpPr/>
          <p:nvPr/>
        </p:nvSpPr>
        <p:spPr>
          <a:xfrm>
            <a:off x="4800600" y="3940920"/>
            <a:ext cx="45360" cy="548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 46"/>
          <p:cNvSpPr/>
          <p:nvPr/>
        </p:nvSpPr>
        <p:spPr>
          <a:xfrm>
            <a:off x="4892040" y="4032360"/>
            <a:ext cx="1234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1e293b"/>
                </a:solidFill>
                <a:latin typeface="Calibri"/>
              </a:rPr>
              <a:t>Resume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47"/>
          <p:cNvSpPr/>
          <p:nvPr/>
        </p:nvSpPr>
        <p:spPr>
          <a:xfrm>
            <a:off x="6080760" y="4032360"/>
            <a:ext cx="1234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50" spc="-1" strike="noStrike">
                <a:solidFill>
                  <a:srgbClr val="ef4444"/>
                </a:solidFill>
                <a:latin typeface="Consolas"/>
                <a:ea typeface="Consolas"/>
              </a:rPr>
              <a:t>"Abstract" (39 651)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48"/>
          <p:cNvSpPr/>
          <p:nvPr/>
        </p:nvSpPr>
        <p:spPr>
          <a:xfrm>
            <a:off x="7360920" y="4032360"/>
            <a:ext cx="1234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50" spc="-1" strike="noStrike">
                <a:solidFill>
                  <a:srgbClr val="10b981"/>
                </a:solidFill>
                <a:latin typeface="Consolas"/>
                <a:ea typeface="Consolas"/>
              </a:rPr>
              <a:t>"Resume" ($rename)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Shape 1"/>
          <p:cNvSpPr/>
          <p:nvPr/>
        </p:nvSpPr>
        <p:spPr>
          <a:xfrm>
            <a:off x="0" y="0"/>
            <a:ext cx="109440" cy="914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2"/>
          <p:cNvSpPr/>
          <p:nvPr/>
        </p:nvSpPr>
        <p:spPr>
          <a:xfrm>
            <a:off x="274320" y="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199" strike="noStrike">
                <a:solidFill>
                  <a:srgbClr val="a855f7"/>
                </a:solidFill>
                <a:latin typeface="Calibri"/>
              </a:rPr>
              <a:t>ETAPE 4 — NORMALISATION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3"/>
          <p:cNvSpPr/>
          <p:nvPr/>
        </p:nvSpPr>
        <p:spPr>
          <a:xfrm>
            <a:off x="274320" y="3474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200" spc="-1" strike="noStrike">
                <a:solidFill>
                  <a:srgbClr val="ffffff"/>
                </a:solidFill>
                <a:latin typeface="Calibri"/>
              </a:rPr>
              <a:t>Modele de Donnees Final (Mongoose Schema)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4"/>
          <p:cNvSpPr/>
          <p:nvPr/>
        </p:nvSpPr>
        <p:spPr>
          <a:xfrm>
            <a:off x="274320" y="1024200"/>
            <a:ext cx="8412120" cy="319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 5"/>
          <p:cNvSpPr/>
          <p:nvPr/>
        </p:nvSpPr>
        <p:spPr>
          <a:xfrm>
            <a:off x="365760" y="10242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50" spc="97" strike="noStrike">
                <a:solidFill>
                  <a:srgbClr val="ffffff"/>
                </a:solidFill>
                <a:latin typeface="Calibri"/>
              </a:rPr>
              <a:t>Champ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6"/>
          <p:cNvSpPr/>
          <p:nvPr/>
        </p:nvSpPr>
        <p:spPr>
          <a:xfrm>
            <a:off x="3017520" y="102420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50" spc="97" strike="noStrike">
                <a:solidFill>
                  <a:srgbClr val="ffffff"/>
                </a:solidFill>
                <a:latin typeface="Calibri"/>
              </a:rPr>
              <a:t>Type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7"/>
          <p:cNvSpPr/>
          <p:nvPr/>
        </p:nvSpPr>
        <p:spPr>
          <a:xfrm>
            <a:off x="4572000" y="102420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50" spc="97" strike="noStrike">
                <a:solidFill>
                  <a:srgbClr val="ffffff"/>
                </a:solidFill>
                <a:latin typeface="Calibri"/>
              </a:rPr>
              <a:t>Normalisation / Note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8"/>
          <p:cNvSpPr/>
          <p:nvPr/>
        </p:nvSpPr>
        <p:spPr>
          <a:xfrm>
            <a:off x="8046720" y="1024200"/>
            <a:ext cx="594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50" spc="-1" strike="noStrike">
                <a:solidFill>
                  <a:srgbClr val="ffffff"/>
                </a:solidFill>
                <a:latin typeface="Calibri"/>
              </a:rPr>
              <a:t>Requis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9"/>
          <p:cNvSpPr/>
          <p:nvPr/>
        </p:nvSpPr>
        <p:spPr>
          <a:xfrm>
            <a:off x="274320" y="1371600"/>
            <a:ext cx="8412120" cy="338040"/>
          </a:xfrm>
          <a:prstGeom prst="rect">
            <a:avLst/>
          </a:prstGeom>
          <a:solidFill>
            <a:srgbClr val="f8f7ff"/>
          </a:solidFill>
          <a:ln w="12700">
            <a:solidFill>
              <a:srgbClr val="ede9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10"/>
          <p:cNvSpPr/>
          <p:nvPr/>
        </p:nvSpPr>
        <p:spPr>
          <a:xfrm>
            <a:off x="365760" y="140832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50" spc="-1" strike="noStrike">
                <a:solidFill>
                  <a:srgbClr val="1e293b"/>
                </a:solidFill>
                <a:latin typeface="Consolas"/>
                <a:ea typeface="Consolas"/>
              </a:rPr>
              <a:t>Identifiant de The Lens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11"/>
          <p:cNvSpPr/>
          <p:nvPr/>
        </p:nvSpPr>
        <p:spPr>
          <a:xfrm>
            <a:off x="3017520" y="1426320"/>
            <a:ext cx="1096920" cy="219240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Text 12"/>
          <p:cNvSpPr/>
          <p:nvPr/>
        </p:nvSpPr>
        <p:spPr>
          <a:xfrm>
            <a:off x="3017520" y="1426320"/>
            <a:ext cx="1096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850" spc="-1" strike="noStrike">
                <a:solidFill>
                  <a:srgbClr val="3b82f6"/>
                </a:solidFill>
                <a:latin typeface="Calibri"/>
              </a:rPr>
              <a:t>String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13"/>
          <p:cNvSpPr/>
          <p:nvPr/>
        </p:nvSpPr>
        <p:spPr>
          <a:xfrm>
            <a:off x="4572000" y="140832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64748b"/>
                </a:solidFill>
                <a:latin typeface="Calibri"/>
                <a:ea typeface="Calibri"/>
              </a:rPr>
              <a:t>Cle unique de deduplication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14"/>
          <p:cNvSpPr/>
          <p:nvPr/>
        </p:nvSpPr>
        <p:spPr>
          <a:xfrm>
            <a:off x="8046720" y="1408320"/>
            <a:ext cx="594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10b981"/>
                </a:solidFill>
                <a:latin typeface="Calibri"/>
              </a:rPr>
              <a:t>Oui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15"/>
          <p:cNvSpPr/>
          <p:nvPr/>
        </p:nvSpPr>
        <p:spPr>
          <a:xfrm>
            <a:off x="274320" y="1728360"/>
            <a:ext cx="8412120" cy="338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16"/>
          <p:cNvSpPr/>
          <p:nvPr/>
        </p:nvSpPr>
        <p:spPr>
          <a:xfrm>
            <a:off x="365760" y="176472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50" spc="-1" strike="noStrike">
                <a:solidFill>
                  <a:srgbClr val="1e293b"/>
                </a:solidFill>
                <a:latin typeface="Consolas"/>
                <a:ea typeface="Consolas"/>
              </a:rPr>
              <a:t>Titre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17"/>
          <p:cNvSpPr/>
          <p:nvPr/>
        </p:nvSpPr>
        <p:spPr>
          <a:xfrm>
            <a:off x="3017520" y="1783080"/>
            <a:ext cx="1096920" cy="219240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18"/>
          <p:cNvSpPr/>
          <p:nvPr/>
        </p:nvSpPr>
        <p:spPr>
          <a:xfrm>
            <a:off x="3017520" y="1783080"/>
            <a:ext cx="1096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850" spc="-1" strike="noStrike">
                <a:solidFill>
                  <a:srgbClr val="3b82f6"/>
                </a:solidFill>
                <a:latin typeface="Calibri"/>
              </a:rPr>
              <a:t>String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19"/>
          <p:cNvSpPr/>
          <p:nvPr/>
        </p:nvSpPr>
        <p:spPr>
          <a:xfrm>
            <a:off x="4572000" y="176472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64748b"/>
                </a:solidFill>
                <a:latin typeface="Calibri"/>
                <a:ea typeface="Calibri"/>
              </a:rPr>
              <a:t>Normalise depuis Title (EN)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20"/>
          <p:cNvSpPr/>
          <p:nvPr/>
        </p:nvSpPr>
        <p:spPr>
          <a:xfrm>
            <a:off x="8046720" y="1764720"/>
            <a:ext cx="594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10b981"/>
                </a:solidFill>
                <a:latin typeface="Calibri"/>
              </a:rPr>
              <a:t>Oui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21"/>
          <p:cNvSpPr/>
          <p:nvPr/>
        </p:nvSpPr>
        <p:spPr>
          <a:xfrm>
            <a:off x="274320" y="2084760"/>
            <a:ext cx="8412120" cy="338040"/>
          </a:xfrm>
          <a:prstGeom prst="rect">
            <a:avLst/>
          </a:prstGeom>
          <a:solidFill>
            <a:srgbClr val="f8f7ff"/>
          </a:solidFill>
          <a:ln w="12700">
            <a:solidFill>
              <a:srgbClr val="ede9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22"/>
          <p:cNvSpPr/>
          <p:nvPr/>
        </p:nvSpPr>
        <p:spPr>
          <a:xfrm>
            <a:off x="365760" y="212148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50" spc="-1" strike="noStrike">
                <a:solidFill>
                  <a:srgbClr val="1e293b"/>
                </a:solidFill>
                <a:latin typeface="Consolas"/>
                <a:ea typeface="Consolas"/>
              </a:rPr>
              <a:t>Annee de publication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23"/>
          <p:cNvSpPr/>
          <p:nvPr/>
        </p:nvSpPr>
        <p:spPr>
          <a:xfrm>
            <a:off x="3017520" y="2139840"/>
            <a:ext cx="1096920" cy="21924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 24"/>
          <p:cNvSpPr/>
          <p:nvPr/>
        </p:nvSpPr>
        <p:spPr>
          <a:xfrm>
            <a:off x="3017520" y="2139840"/>
            <a:ext cx="1096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850" spc="-1" strike="noStrike">
                <a:solidFill>
                  <a:srgbClr val="10b981"/>
                </a:solidFill>
                <a:latin typeface="Calibri"/>
              </a:rPr>
              <a:t>Number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25"/>
          <p:cNvSpPr/>
          <p:nvPr/>
        </p:nvSpPr>
        <p:spPr>
          <a:xfrm>
            <a:off x="4572000" y="212148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64748b"/>
                </a:solidFill>
                <a:latin typeface="Calibri"/>
                <a:ea typeface="Calibri"/>
              </a:rPr>
              <a:t>Normalise depuis Publication Year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 26"/>
          <p:cNvSpPr/>
          <p:nvPr/>
        </p:nvSpPr>
        <p:spPr>
          <a:xfrm>
            <a:off x="8046720" y="2121480"/>
            <a:ext cx="594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10b981"/>
                </a:solidFill>
                <a:latin typeface="Calibri"/>
              </a:rPr>
              <a:t>Oui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27"/>
          <p:cNvSpPr/>
          <p:nvPr/>
        </p:nvSpPr>
        <p:spPr>
          <a:xfrm>
            <a:off x="274320" y="2441520"/>
            <a:ext cx="8412120" cy="338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28"/>
          <p:cNvSpPr/>
          <p:nvPr/>
        </p:nvSpPr>
        <p:spPr>
          <a:xfrm>
            <a:off x="365760" y="247788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50" spc="-1" strike="noStrike">
                <a:solidFill>
                  <a:srgbClr val="1e293b"/>
                </a:solidFill>
                <a:latin typeface="Consolas"/>
                <a:ea typeface="Consolas"/>
              </a:rPr>
              <a:t>Juridiction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29"/>
          <p:cNvSpPr/>
          <p:nvPr/>
        </p:nvSpPr>
        <p:spPr>
          <a:xfrm>
            <a:off x="3017520" y="2496240"/>
            <a:ext cx="1096920" cy="219240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 30"/>
          <p:cNvSpPr/>
          <p:nvPr/>
        </p:nvSpPr>
        <p:spPr>
          <a:xfrm>
            <a:off x="3017520" y="2496240"/>
            <a:ext cx="1096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850" spc="-1" strike="noStrike">
                <a:solidFill>
                  <a:srgbClr val="3b82f6"/>
                </a:solidFill>
                <a:latin typeface="Calibri"/>
              </a:rPr>
              <a:t>String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31"/>
          <p:cNvSpPr/>
          <p:nvPr/>
        </p:nvSpPr>
        <p:spPr>
          <a:xfrm>
            <a:off x="4572000" y="247788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64748b"/>
                </a:solidFill>
                <a:latin typeface="Calibri"/>
                <a:ea typeface="Calibri"/>
              </a:rPr>
              <a:t>Normalise depuis Jurisdiction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32"/>
          <p:cNvSpPr/>
          <p:nvPr/>
        </p:nvSpPr>
        <p:spPr>
          <a:xfrm>
            <a:off x="8046720" y="2477880"/>
            <a:ext cx="594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10b981"/>
                </a:solidFill>
                <a:latin typeface="Calibri"/>
              </a:rPr>
              <a:t>Oui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33"/>
          <p:cNvSpPr/>
          <p:nvPr/>
        </p:nvSpPr>
        <p:spPr>
          <a:xfrm>
            <a:off x="274320" y="2797920"/>
            <a:ext cx="8412120" cy="338040"/>
          </a:xfrm>
          <a:prstGeom prst="rect">
            <a:avLst/>
          </a:prstGeom>
          <a:solidFill>
            <a:srgbClr val="f8f7ff"/>
          </a:solidFill>
          <a:ln w="12700">
            <a:solidFill>
              <a:srgbClr val="ede9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34"/>
          <p:cNvSpPr/>
          <p:nvPr/>
        </p:nvSpPr>
        <p:spPr>
          <a:xfrm>
            <a:off x="365760" y="283464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50" spc="-1" strike="noStrike">
                <a:solidFill>
                  <a:srgbClr val="1e293b"/>
                </a:solidFill>
                <a:latin typeface="Consolas"/>
                <a:ea typeface="Consolas"/>
              </a:rPr>
              <a:t>Statut legal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35"/>
          <p:cNvSpPr/>
          <p:nvPr/>
        </p:nvSpPr>
        <p:spPr>
          <a:xfrm>
            <a:off x="3017520" y="2853000"/>
            <a:ext cx="1096920" cy="219240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Text 36"/>
          <p:cNvSpPr/>
          <p:nvPr/>
        </p:nvSpPr>
        <p:spPr>
          <a:xfrm>
            <a:off x="3017520" y="2853000"/>
            <a:ext cx="1096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850" spc="-1" strike="noStrike">
                <a:solidFill>
                  <a:srgbClr val="3b82f6"/>
                </a:solidFill>
                <a:latin typeface="Calibri"/>
              </a:rPr>
              <a:t>String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37"/>
          <p:cNvSpPr/>
          <p:nvPr/>
        </p:nvSpPr>
        <p:spPr>
          <a:xfrm>
            <a:off x="4572000" y="283464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64748b"/>
                </a:solidFill>
                <a:latin typeface="Calibri"/>
                <a:ea typeface="Calibri"/>
              </a:rPr>
              <a:t>ACTIVE | UNKNOWN (valeur par defaut)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38"/>
          <p:cNvSpPr/>
          <p:nvPr/>
        </p:nvSpPr>
        <p:spPr>
          <a:xfrm>
            <a:off x="8046720" y="2834640"/>
            <a:ext cx="594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10b981"/>
                </a:solidFill>
                <a:latin typeface="Calibri"/>
              </a:rPr>
              <a:t>Oui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39"/>
          <p:cNvSpPr/>
          <p:nvPr/>
        </p:nvSpPr>
        <p:spPr>
          <a:xfrm>
            <a:off x="274320" y="3154680"/>
            <a:ext cx="8412120" cy="338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40"/>
          <p:cNvSpPr/>
          <p:nvPr/>
        </p:nvSpPr>
        <p:spPr>
          <a:xfrm>
            <a:off x="365760" y="319140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50" spc="-1" strike="noStrike">
                <a:solidFill>
                  <a:srgbClr val="1e293b"/>
                </a:solidFill>
                <a:latin typeface="Consolas"/>
                <a:ea typeface="Consolas"/>
              </a:rPr>
              <a:t>Candidats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41"/>
          <p:cNvSpPr/>
          <p:nvPr/>
        </p:nvSpPr>
        <p:spPr>
          <a:xfrm>
            <a:off x="3017520" y="3209400"/>
            <a:ext cx="1096920" cy="219240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 42"/>
          <p:cNvSpPr/>
          <p:nvPr/>
        </p:nvSpPr>
        <p:spPr>
          <a:xfrm>
            <a:off x="3017520" y="3209400"/>
            <a:ext cx="1096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850" spc="-1" strike="noStrike">
                <a:solidFill>
                  <a:srgbClr val="3b82f6"/>
                </a:solidFill>
                <a:latin typeface="Calibri"/>
              </a:rPr>
              <a:t>String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43"/>
          <p:cNvSpPr/>
          <p:nvPr/>
        </p:nvSpPr>
        <p:spPr>
          <a:xfrm>
            <a:off x="4572000" y="319140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64748b"/>
                </a:solidFill>
                <a:latin typeface="Calibri"/>
                <a:ea typeface="Calibri"/>
              </a:rPr>
              <a:t>Normalise depuis Applicants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44"/>
          <p:cNvSpPr/>
          <p:nvPr/>
        </p:nvSpPr>
        <p:spPr>
          <a:xfrm>
            <a:off x="8046720" y="3191400"/>
            <a:ext cx="594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64748b"/>
                </a:solidFill>
                <a:latin typeface="Calibri"/>
              </a:rPr>
              <a:t>-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45"/>
          <p:cNvSpPr/>
          <p:nvPr/>
        </p:nvSpPr>
        <p:spPr>
          <a:xfrm>
            <a:off x="274320" y="3511440"/>
            <a:ext cx="8412120" cy="338040"/>
          </a:xfrm>
          <a:prstGeom prst="rect">
            <a:avLst/>
          </a:prstGeom>
          <a:solidFill>
            <a:srgbClr val="f8f7ff"/>
          </a:solidFill>
          <a:ln w="12700">
            <a:solidFill>
              <a:srgbClr val="ede9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46"/>
          <p:cNvSpPr/>
          <p:nvPr/>
        </p:nvSpPr>
        <p:spPr>
          <a:xfrm>
            <a:off x="365760" y="354780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50" spc="-1" strike="noStrike">
                <a:solidFill>
                  <a:srgbClr val="1e293b"/>
                </a:solidFill>
                <a:latin typeface="Consolas"/>
                <a:ea typeface="Consolas"/>
              </a:rPr>
              <a:t>Resume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47"/>
          <p:cNvSpPr/>
          <p:nvPr/>
        </p:nvSpPr>
        <p:spPr>
          <a:xfrm>
            <a:off x="3017520" y="3566160"/>
            <a:ext cx="1096920" cy="219240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 48"/>
          <p:cNvSpPr/>
          <p:nvPr/>
        </p:nvSpPr>
        <p:spPr>
          <a:xfrm>
            <a:off x="3017520" y="3566160"/>
            <a:ext cx="1096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850" spc="-1" strike="noStrike">
                <a:solidFill>
                  <a:srgbClr val="3b82f6"/>
                </a:solidFill>
                <a:latin typeface="Calibri"/>
              </a:rPr>
              <a:t>String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49"/>
          <p:cNvSpPr/>
          <p:nvPr/>
        </p:nvSpPr>
        <p:spPr>
          <a:xfrm>
            <a:off x="4572000" y="354780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64748b"/>
                </a:solidFill>
                <a:latin typeface="Calibri"/>
                <a:ea typeface="Calibri"/>
              </a:rPr>
              <a:t>Normalise depuis Abstract (39 651 renommes)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50"/>
          <p:cNvSpPr/>
          <p:nvPr/>
        </p:nvSpPr>
        <p:spPr>
          <a:xfrm>
            <a:off x="8046720" y="3547800"/>
            <a:ext cx="594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64748b"/>
                </a:solidFill>
                <a:latin typeface="Calibri"/>
              </a:rPr>
              <a:t>-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51"/>
          <p:cNvSpPr/>
          <p:nvPr/>
        </p:nvSpPr>
        <p:spPr>
          <a:xfrm>
            <a:off x="274320" y="3867840"/>
            <a:ext cx="8412120" cy="338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52"/>
          <p:cNvSpPr/>
          <p:nvPr/>
        </p:nvSpPr>
        <p:spPr>
          <a:xfrm>
            <a:off x="365760" y="390456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50" spc="-1" strike="noStrike">
                <a:solidFill>
                  <a:srgbClr val="1e293b"/>
                </a:solidFill>
                <a:latin typeface="Consolas"/>
                <a:ea typeface="Consolas"/>
              </a:rPr>
              <a:t>Cite par nombre de brevets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53"/>
          <p:cNvSpPr/>
          <p:nvPr/>
        </p:nvSpPr>
        <p:spPr>
          <a:xfrm>
            <a:off x="3017520" y="3922920"/>
            <a:ext cx="1096920" cy="21924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 54"/>
          <p:cNvSpPr/>
          <p:nvPr/>
        </p:nvSpPr>
        <p:spPr>
          <a:xfrm>
            <a:off x="3017520" y="3922920"/>
            <a:ext cx="1096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850" spc="-1" strike="noStrike">
                <a:solidFill>
                  <a:srgbClr val="10b981"/>
                </a:solidFill>
                <a:latin typeface="Calibri"/>
              </a:rPr>
              <a:t>Number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55"/>
          <p:cNvSpPr/>
          <p:nvPr/>
        </p:nvSpPr>
        <p:spPr>
          <a:xfrm>
            <a:off x="4572000" y="390456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64748b"/>
                </a:solidFill>
                <a:latin typeface="Calibri"/>
                <a:ea typeface="Calibri"/>
              </a:rPr>
              <a:t>Normalise depuis Cited by count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56"/>
          <p:cNvSpPr/>
          <p:nvPr/>
        </p:nvSpPr>
        <p:spPr>
          <a:xfrm>
            <a:off x="8046720" y="3904560"/>
            <a:ext cx="594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64748b"/>
                </a:solidFill>
                <a:latin typeface="Calibri"/>
              </a:rPr>
              <a:t>-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57"/>
          <p:cNvSpPr/>
          <p:nvPr/>
        </p:nvSpPr>
        <p:spPr>
          <a:xfrm>
            <a:off x="274320" y="4224600"/>
            <a:ext cx="8412120" cy="338040"/>
          </a:xfrm>
          <a:prstGeom prst="rect">
            <a:avLst/>
          </a:prstGeom>
          <a:solidFill>
            <a:srgbClr val="f8f7ff"/>
          </a:solidFill>
          <a:ln w="12700">
            <a:solidFill>
              <a:srgbClr val="ede9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58"/>
          <p:cNvSpPr/>
          <p:nvPr/>
        </p:nvSpPr>
        <p:spPr>
          <a:xfrm>
            <a:off x="365760" y="426096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50" spc="-1" strike="noStrike">
                <a:solidFill>
                  <a:srgbClr val="1e293b"/>
                </a:solidFill>
                <a:latin typeface="Consolas"/>
                <a:ea typeface="Consolas"/>
              </a:rPr>
              <a:t>Cites le nombre de brevets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59"/>
          <p:cNvSpPr/>
          <p:nvPr/>
        </p:nvSpPr>
        <p:spPr>
          <a:xfrm>
            <a:off x="3017520" y="4279320"/>
            <a:ext cx="1096920" cy="21924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Text 60"/>
          <p:cNvSpPr/>
          <p:nvPr/>
        </p:nvSpPr>
        <p:spPr>
          <a:xfrm>
            <a:off x="3017520" y="4279320"/>
            <a:ext cx="1096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850" spc="-1" strike="noStrike">
                <a:solidFill>
                  <a:srgbClr val="10b981"/>
                </a:solidFill>
                <a:latin typeface="Calibri"/>
              </a:rPr>
              <a:t>Number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61"/>
          <p:cNvSpPr/>
          <p:nvPr/>
        </p:nvSpPr>
        <p:spPr>
          <a:xfrm>
            <a:off x="4572000" y="426096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64748b"/>
                </a:solidFill>
                <a:latin typeface="Calibri"/>
                <a:ea typeface="Calibri"/>
              </a:rPr>
              <a:t>Nombre de brevets cites par ce brevet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62"/>
          <p:cNvSpPr/>
          <p:nvPr/>
        </p:nvSpPr>
        <p:spPr>
          <a:xfrm>
            <a:off x="8046720" y="4260960"/>
            <a:ext cx="594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64748b"/>
                </a:solidFill>
                <a:latin typeface="Calibri"/>
              </a:rPr>
              <a:t>-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63"/>
          <p:cNvSpPr/>
          <p:nvPr/>
        </p:nvSpPr>
        <p:spPr>
          <a:xfrm>
            <a:off x="274320" y="4581000"/>
            <a:ext cx="8412120" cy="338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64"/>
          <p:cNvSpPr/>
          <p:nvPr/>
        </p:nvSpPr>
        <p:spPr>
          <a:xfrm>
            <a:off x="365760" y="461772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50" spc="-1" strike="noStrike">
                <a:solidFill>
                  <a:srgbClr val="1e293b"/>
                </a:solidFill>
                <a:latin typeface="Consolas"/>
                <a:ea typeface="Consolas"/>
              </a:rPr>
              <a:t>Type de document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65"/>
          <p:cNvSpPr/>
          <p:nvPr/>
        </p:nvSpPr>
        <p:spPr>
          <a:xfrm>
            <a:off x="3017520" y="4636080"/>
            <a:ext cx="1096920" cy="219240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 66"/>
          <p:cNvSpPr/>
          <p:nvPr/>
        </p:nvSpPr>
        <p:spPr>
          <a:xfrm>
            <a:off x="3017520" y="4636080"/>
            <a:ext cx="1096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850" spc="-1" strike="noStrike">
                <a:solidFill>
                  <a:srgbClr val="3b82f6"/>
                </a:solidFill>
                <a:latin typeface="Calibri"/>
              </a:rPr>
              <a:t>String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67"/>
          <p:cNvSpPr/>
          <p:nvPr/>
        </p:nvSpPr>
        <p:spPr>
          <a:xfrm>
            <a:off x="4572000" y="461772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64748b"/>
                </a:solidFill>
                <a:latin typeface="Calibri"/>
                <a:ea typeface="Calibri"/>
              </a:rPr>
              <a:t>Granted Patent | Patent Application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 68"/>
          <p:cNvSpPr/>
          <p:nvPr/>
        </p:nvSpPr>
        <p:spPr>
          <a:xfrm>
            <a:off x="8046720" y="4617720"/>
            <a:ext cx="594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64748b"/>
                </a:solidFill>
                <a:latin typeface="Calibri"/>
              </a:rPr>
              <a:t>-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hape 69"/>
          <p:cNvSpPr/>
          <p:nvPr/>
        </p:nvSpPr>
        <p:spPr>
          <a:xfrm>
            <a:off x="274320" y="4956120"/>
            <a:ext cx="8412120" cy="255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Text 70"/>
          <p:cNvSpPr/>
          <p:nvPr/>
        </p:nvSpPr>
        <p:spPr>
          <a:xfrm>
            <a:off x="365760" y="495612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50" spc="-1" strike="noStrike">
                <a:solidFill>
                  <a:srgbClr val="a5b4fc"/>
                </a:solidFill>
                <a:latin typeface="Consolas"/>
                <a:ea typeface="Consolas"/>
              </a:rPr>
              <a:t>Collection MongoDB : "brevets"  |  strict: false  |  100 000 documents apres nettoyage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Shape 1"/>
          <p:cNvSpPr/>
          <p:nvPr/>
        </p:nvSpPr>
        <p:spPr>
          <a:xfrm>
            <a:off x="0" y="0"/>
            <a:ext cx="109440" cy="914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 2"/>
          <p:cNvSpPr/>
          <p:nvPr/>
        </p:nvSpPr>
        <p:spPr>
          <a:xfrm>
            <a:off x="274320" y="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199" strike="noStrike">
                <a:solidFill>
                  <a:srgbClr val="a855f7"/>
                </a:solidFill>
                <a:latin typeface="Calibri"/>
              </a:rPr>
              <a:t>ETAPE 5 — PROBLEMES TECHNIQUES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 3"/>
          <p:cNvSpPr/>
          <p:nvPr/>
        </p:nvSpPr>
        <p:spPr>
          <a:xfrm>
            <a:off x="274320" y="3474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200" spc="-1" strike="noStrike">
                <a:solidFill>
                  <a:srgbClr val="ffffff"/>
                </a:solidFill>
                <a:latin typeface="Calibri"/>
              </a:rPr>
              <a:t>Obstacles Techniques &amp; Solutions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4"/>
          <p:cNvSpPr/>
          <p:nvPr/>
        </p:nvSpPr>
        <p:spPr>
          <a:xfrm>
            <a:off x="274320" y="1024200"/>
            <a:ext cx="3931560" cy="868320"/>
          </a:xfrm>
          <a:prstGeom prst="rect">
            <a:avLst/>
          </a:prstGeom>
          <a:solidFill>
            <a:srgbClr val="ef4444">
              <a:alpha val="8000"/>
            </a:srgbClr>
          </a:solidFill>
          <a:ln w="12700">
            <a:solidFill>
              <a:srgbClr val="ef4444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Shape 5"/>
          <p:cNvSpPr/>
          <p:nvPr/>
        </p:nvSpPr>
        <p:spPr>
          <a:xfrm>
            <a:off x="274320" y="1024200"/>
            <a:ext cx="63720" cy="868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Text 6"/>
          <p:cNvSpPr/>
          <p:nvPr/>
        </p:nvSpPr>
        <p:spPr>
          <a:xfrm>
            <a:off x="438840" y="10699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50" spc="-1" strike="noStrike">
                <a:solidFill>
                  <a:srgbClr val="ef4444"/>
                </a:solidFill>
                <a:latin typeface="Calibri"/>
              </a:rPr>
              <a:t>Problème : Regression impossible sur les citations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 7"/>
          <p:cNvSpPr/>
          <p:nvPr/>
        </p:nvSpPr>
        <p:spPr>
          <a:xfrm>
            <a:off x="438840" y="137160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Seulement 32 brevets citès sur 100 000 — données trop récentes (2024-2026). Aucune tendance exploitable.</a:t>
            </a:r>
            <a:endParaRPr b="1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8"/>
          <p:cNvSpPr/>
          <p:nvPr/>
        </p:nvSpPr>
        <p:spPr>
          <a:xfrm>
            <a:off x="4297680" y="129852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600" spc="-1" strike="noStrike">
                <a:solidFill>
                  <a:srgbClr val="ef4444"/>
                </a:solidFill>
                <a:latin typeface="Calibri"/>
              </a:rPr>
              <a:t>-&gt;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9"/>
          <p:cNvSpPr/>
          <p:nvPr/>
        </p:nvSpPr>
        <p:spPr>
          <a:xfrm>
            <a:off x="4800600" y="1024200"/>
            <a:ext cx="4068720" cy="868320"/>
          </a:xfrm>
          <a:prstGeom prst="rect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Shape 10"/>
          <p:cNvSpPr/>
          <p:nvPr/>
        </p:nvSpPr>
        <p:spPr>
          <a:xfrm>
            <a:off x="4800600" y="1024200"/>
            <a:ext cx="63720" cy="868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Text 11"/>
          <p:cNvSpPr/>
          <p:nvPr/>
        </p:nvSpPr>
        <p:spPr>
          <a:xfrm>
            <a:off x="4965120" y="106992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50" spc="-1" strike="noStrike">
                <a:solidFill>
                  <a:srgbClr val="10b981"/>
                </a:solidFill>
                <a:latin typeface="Calibri"/>
              </a:rPr>
              <a:t>Solution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 12"/>
          <p:cNvSpPr/>
          <p:nvPr/>
        </p:nvSpPr>
        <p:spPr>
          <a:xfrm>
            <a:off x="4965120" y="1371600"/>
            <a:ext cx="374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64748b"/>
                </a:solidFill>
                <a:latin typeface="Calibri"/>
                <a:ea typeface="Calibri"/>
              </a:rPr>
              <a:t>Pivot : regression linéaire sur les dépots par candidat (2024-2025-2026). Prediction 2027 viable.</a:t>
            </a:r>
            <a:endParaRPr b="1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13"/>
          <p:cNvSpPr/>
          <p:nvPr/>
        </p:nvSpPr>
        <p:spPr>
          <a:xfrm>
            <a:off x="274320" y="2011680"/>
            <a:ext cx="3931560" cy="868320"/>
          </a:xfrm>
          <a:prstGeom prst="rect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14"/>
          <p:cNvSpPr/>
          <p:nvPr/>
        </p:nvSpPr>
        <p:spPr>
          <a:xfrm>
            <a:off x="274320" y="2011680"/>
            <a:ext cx="63720" cy="868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 15"/>
          <p:cNvSpPr/>
          <p:nvPr/>
        </p:nvSpPr>
        <p:spPr>
          <a:xfrm>
            <a:off x="438840" y="20574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50" spc="-1" strike="noStrike">
                <a:solidFill>
                  <a:srgbClr val="f59e0b"/>
                </a:solidFill>
                <a:latin typeface="Calibri"/>
              </a:rPr>
              <a:t>Problème :Erreur 401 — Token refusé par Lens API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 16"/>
          <p:cNvSpPr/>
          <p:nvPr/>
        </p:nvSpPr>
        <p:spPr>
          <a:xfrm>
            <a:off x="438840" y="235908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1" lang="fr-FR" sz="900" spc="-1" strike="noStrike">
                <a:solidFill>
                  <a:srgbClr val="64748b"/>
                </a:solidFill>
                <a:latin typeface="Calibri"/>
                <a:ea typeface="Calibri"/>
              </a:rPr>
              <a:t>dotenv incluait \n dans la valeur du token</a:t>
            </a:r>
            <a:endParaRPr b="1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17"/>
          <p:cNvSpPr/>
          <p:nvPr/>
        </p:nvSpPr>
        <p:spPr>
          <a:xfrm>
            <a:off x="4297680" y="228600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600" spc="-1" strike="noStrike">
                <a:solidFill>
                  <a:srgbClr val="f59e0b"/>
                </a:solidFill>
                <a:latin typeface="Calibri"/>
              </a:rPr>
              <a:t>-&gt;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18"/>
          <p:cNvSpPr/>
          <p:nvPr/>
        </p:nvSpPr>
        <p:spPr>
          <a:xfrm>
            <a:off x="4800600" y="2011680"/>
            <a:ext cx="4068720" cy="868320"/>
          </a:xfrm>
          <a:prstGeom prst="rect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Shape 19"/>
          <p:cNvSpPr/>
          <p:nvPr/>
        </p:nvSpPr>
        <p:spPr>
          <a:xfrm>
            <a:off x="4800600" y="2011680"/>
            <a:ext cx="63720" cy="868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Text 20"/>
          <p:cNvSpPr/>
          <p:nvPr/>
        </p:nvSpPr>
        <p:spPr>
          <a:xfrm>
            <a:off x="4965120" y="205740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50" spc="-1" strike="noStrike">
                <a:solidFill>
                  <a:srgbClr val="10b981"/>
                </a:solidFill>
                <a:latin typeface="Calibri"/>
              </a:rPr>
              <a:t>Solution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 21"/>
          <p:cNvSpPr/>
          <p:nvPr/>
        </p:nvSpPr>
        <p:spPr>
          <a:xfrm>
            <a:off x="4965120" y="2359080"/>
            <a:ext cx="374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1" lang="fr-FR" sz="900" spc="-1" strike="noStrike">
                <a:solidFill>
                  <a:srgbClr val="64748b"/>
                </a:solidFill>
                <a:latin typeface="Calibri"/>
                <a:ea typeface="Calibri"/>
              </a:rPr>
              <a:t> </a:t>
            </a:r>
            <a:r>
              <a:rPr b="1" lang="fr-FR" sz="900" spc="-1" strike="noStrike">
                <a:solidFill>
                  <a:srgbClr val="64748b"/>
                </a:solidFill>
                <a:latin typeface="Calibri"/>
                <a:ea typeface="Calibri"/>
              </a:rPr>
              <a:t>process.env.LENS_API_KEY?.trim() + getter dynamique</a:t>
            </a:r>
            <a:endParaRPr b="1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22"/>
          <p:cNvSpPr/>
          <p:nvPr/>
        </p:nvSpPr>
        <p:spPr>
          <a:xfrm>
            <a:off x="274320" y="2999160"/>
            <a:ext cx="3931560" cy="868320"/>
          </a:xfrm>
          <a:prstGeom prst="rect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Shape 23"/>
          <p:cNvSpPr/>
          <p:nvPr/>
        </p:nvSpPr>
        <p:spPr>
          <a:xfrm>
            <a:off x="274320" y="2999160"/>
            <a:ext cx="63720" cy="868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 24"/>
          <p:cNvSpPr/>
          <p:nvPr/>
        </p:nvSpPr>
        <p:spPr>
          <a:xfrm>
            <a:off x="438840" y="30448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1" lang="fr-FR" sz="1050" spc="-1" strike="noStrike">
                <a:solidFill>
                  <a:srgbClr val="7c3aed"/>
                </a:solidFill>
                <a:latin typeface="Calibri"/>
              </a:rPr>
              <a:t>Structure API incompatible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 25"/>
          <p:cNvSpPr/>
          <p:nvPr/>
        </p:nvSpPr>
        <p:spPr>
          <a:xfrm>
            <a:off x="438840" y="334656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1" lang="fr-FR" sz="900" spc="-1" strike="noStrike">
                <a:solidFill>
                  <a:srgbClr val="64748b"/>
                </a:solidFill>
                <a:latin typeface="Calibri"/>
                <a:ea typeface="Calibri"/>
              </a:rPr>
              <a:t>mapping basé sur une structure supposée (b.title, b.applicants) alors que la vraie structure est imbriquée (b.biblio.invention_title, b.biblio.parties.applicants)</a:t>
            </a:r>
            <a:endParaRPr b="1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26"/>
          <p:cNvSpPr/>
          <p:nvPr/>
        </p:nvSpPr>
        <p:spPr>
          <a:xfrm>
            <a:off x="4297680" y="327348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600" spc="-1" strike="noStrike">
                <a:solidFill>
                  <a:srgbClr val="7c3aed"/>
                </a:solidFill>
                <a:latin typeface="Calibri"/>
              </a:rPr>
              <a:t>-&gt;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27"/>
          <p:cNvSpPr/>
          <p:nvPr/>
        </p:nvSpPr>
        <p:spPr>
          <a:xfrm>
            <a:off x="4800600" y="2999160"/>
            <a:ext cx="4068720" cy="868320"/>
          </a:xfrm>
          <a:prstGeom prst="rect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Shape 28"/>
          <p:cNvSpPr/>
          <p:nvPr/>
        </p:nvSpPr>
        <p:spPr>
          <a:xfrm>
            <a:off x="4800600" y="2999160"/>
            <a:ext cx="63720" cy="868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Text 29"/>
          <p:cNvSpPr/>
          <p:nvPr/>
        </p:nvSpPr>
        <p:spPr>
          <a:xfrm>
            <a:off x="4965120" y="304488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50" spc="-1" strike="noStrike">
                <a:solidFill>
                  <a:srgbClr val="10b981"/>
                </a:solidFill>
                <a:latin typeface="Calibri"/>
              </a:rPr>
              <a:t>Solution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 30"/>
          <p:cNvSpPr/>
          <p:nvPr/>
        </p:nvSpPr>
        <p:spPr>
          <a:xfrm>
            <a:off x="4965120" y="3346560"/>
            <a:ext cx="374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1" lang="fr-FR" sz="900" spc="-1" strike="noStrike">
                <a:solidFill>
                  <a:srgbClr val="64748b"/>
                </a:solidFill>
                <a:latin typeface="Calibri"/>
                <a:ea typeface="Calibri"/>
              </a:rPr>
              <a:t>analyse de la vraie réponse curl + remapping complet</a:t>
            </a:r>
            <a:endParaRPr b="1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31"/>
          <p:cNvSpPr/>
          <p:nvPr/>
        </p:nvSpPr>
        <p:spPr>
          <a:xfrm>
            <a:off x="274320" y="3986640"/>
            <a:ext cx="3931560" cy="868320"/>
          </a:xfrm>
          <a:prstGeom prst="rect">
            <a:avLst/>
          </a:prstGeom>
          <a:solidFill>
            <a:srgbClr val="3b82f6">
              <a:alpha val="8000"/>
            </a:srgbClr>
          </a:solidFill>
          <a:ln w="12700">
            <a:solidFill>
              <a:srgbClr val="3b82f6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Shape 32"/>
          <p:cNvSpPr/>
          <p:nvPr/>
        </p:nvSpPr>
        <p:spPr>
          <a:xfrm>
            <a:off x="274320" y="3986640"/>
            <a:ext cx="63720" cy="868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 33"/>
          <p:cNvSpPr/>
          <p:nvPr/>
        </p:nvSpPr>
        <p:spPr>
          <a:xfrm>
            <a:off x="438840" y="40323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50" spc="-1" strike="noStrike">
                <a:solidFill>
                  <a:srgbClr val="3b82f6"/>
                </a:solidFill>
                <a:latin typeface="Calibri"/>
              </a:rPr>
              <a:t>Problème : Rate limit API The Lens (429)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 34"/>
          <p:cNvSpPr/>
          <p:nvPr/>
        </p:nvSpPr>
        <p:spPr>
          <a:xfrm>
            <a:off x="438840" y="433440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64748b"/>
                </a:solidFill>
                <a:latin typeface="Calibri"/>
                <a:ea typeface="Calibri"/>
              </a:rPr>
              <a:t>Import accelerè (BATCH_SIZE=100, interval=5s) bloque par l’API aprés quelques cycles. Erreur HTTP 429.</a:t>
            </a:r>
            <a:endParaRPr b="1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 35"/>
          <p:cNvSpPr/>
          <p:nvPr/>
        </p:nvSpPr>
        <p:spPr>
          <a:xfrm>
            <a:off x="4297680" y="42609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600" spc="-1" strike="noStrike">
                <a:solidFill>
                  <a:srgbClr val="3b82f6"/>
                </a:solidFill>
                <a:latin typeface="Calibri"/>
              </a:rPr>
              <a:t>-&gt;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hape 36"/>
          <p:cNvSpPr/>
          <p:nvPr/>
        </p:nvSpPr>
        <p:spPr>
          <a:xfrm>
            <a:off x="4800600" y="3986640"/>
            <a:ext cx="4068720" cy="868320"/>
          </a:xfrm>
          <a:prstGeom prst="rect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Shape 37"/>
          <p:cNvSpPr/>
          <p:nvPr/>
        </p:nvSpPr>
        <p:spPr>
          <a:xfrm>
            <a:off x="4800600" y="3986640"/>
            <a:ext cx="63720" cy="868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Text 38"/>
          <p:cNvSpPr/>
          <p:nvPr/>
        </p:nvSpPr>
        <p:spPr>
          <a:xfrm>
            <a:off x="4965120" y="403236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50" spc="-1" strike="noStrike">
                <a:solidFill>
                  <a:srgbClr val="10b981"/>
                </a:solidFill>
                <a:latin typeface="Calibri"/>
              </a:rPr>
              <a:t>Solution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 39"/>
          <p:cNvSpPr/>
          <p:nvPr/>
        </p:nvSpPr>
        <p:spPr>
          <a:xfrm>
            <a:off x="4965120" y="4334400"/>
            <a:ext cx="374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64748b"/>
                </a:solidFill>
                <a:latin typeface="Calibri"/>
                <a:ea typeface="Calibri"/>
              </a:rPr>
              <a:t>Retour a BATCH_SIZE=3 / interval=30s en production. Gestion d’erreur avec pause 5 min automatique .</a:t>
            </a:r>
            <a:endParaRPr b="1" lang="fr-F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Shape 0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Text 1"/>
          <p:cNvSpPr/>
          <p:nvPr/>
        </p:nvSpPr>
        <p:spPr>
          <a:xfrm>
            <a:off x="365760" y="182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199" strike="noStrike">
                <a:solidFill>
                  <a:srgbClr val="a855f7"/>
                </a:solidFill>
                <a:latin typeface="Calibri"/>
              </a:rPr>
              <a:t>RESULTATS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Text 2"/>
          <p:cNvSpPr/>
          <p:nvPr/>
        </p:nvSpPr>
        <p:spPr>
          <a:xfrm>
            <a:off x="365760" y="4388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200" spc="-1" strike="noStrike">
                <a:solidFill>
                  <a:srgbClr val="ffffff"/>
                </a:solidFill>
                <a:latin typeface="Calibri"/>
              </a:rPr>
              <a:t>Base de Donnees apres Nettoyage &amp; Normalisation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Text 3"/>
          <p:cNvSpPr/>
          <p:nvPr/>
        </p:nvSpPr>
        <p:spPr>
          <a:xfrm>
            <a:off x="2103120" y="11156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97" strike="noStrike">
                <a:solidFill>
                  <a:srgbClr val="ef4444"/>
                </a:solidFill>
                <a:latin typeface="Calibri"/>
              </a:rPr>
              <a:t>Avant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Text 4"/>
          <p:cNvSpPr/>
          <p:nvPr/>
        </p:nvSpPr>
        <p:spPr>
          <a:xfrm>
            <a:off x="5486400" y="11156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97" strike="noStrike">
                <a:solidFill>
                  <a:srgbClr val="10b981"/>
                </a:solidFill>
                <a:latin typeface="Calibri"/>
              </a:rPr>
              <a:t>Apres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Text 5"/>
          <p:cNvSpPr/>
          <p:nvPr/>
        </p:nvSpPr>
        <p:spPr>
          <a:xfrm>
            <a:off x="365760" y="153612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50" spc="-1" strike="noStrike">
                <a:solidFill>
                  <a:srgbClr val="a5b4fc"/>
                </a:solidFill>
                <a:latin typeface="Calibri"/>
                <a:ea typeface="Calibri"/>
              </a:rPr>
              <a:t>Nombre de documents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Shape 6"/>
          <p:cNvSpPr/>
          <p:nvPr/>
        </p:nvSpPr>
        <p:spPr>
          <a:xfrm>
            <a:off x="2103120" y="1444680"/>
            <a:ext cx="3017160" cy="475200"/>
          </a:xfrm>
          <a:prstGeom prst="rect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Text 7"/>
          <p:cNvSpPr/>
          <p:nvPr/>
        </p:nvSpPr>
        <p:spPr>
          <a:xfrm>
            <a:off x="2194560" y="150876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50" spc="-1" strike="noStrike">
                <a:solidFill>
                  <a:srgbClr val="fca5a5"/>
                </a:solidFill>
                <a:latin typeface="Calibri"/>
                <a:ea typeface="Calibri"/>
              </a:rPr>
              <a:t>101 000 (avec doublons)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Text 8"/>
          <p:cNvSpPr/>
          <p:nvPr/>
        </p:nvSpPr>
        <p:spPr>
          <a:xfrm>
            <a:off x="5166360" y="1554480"/>
            <a:ext cx="273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200" spc="-1" strike="noStrike">
                <a:solidFill>
                  <a:srgbClr val="a855f7"/>
                </a:solidFill>
                <a:latin typeface="Calibri"/>
              </a:rPr>
              <a:t>=&gt;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Shape 9"/>
          <p:cNvSpPr/>
          <p:nvPr/>
        </p:nvSpPr>
        <p:spPr>
          <a:xfrm>
            <a:off x="5486400" y="1444680"/>
            <a:ext cx="3291480" cy="475200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Text 10"/>
          <p:cNvSpPr/>
          <p:nvPr/>
        </p:nvSpPr>
        <p:spPr>
          <a:xfrm>
            <a:off x="5577840" y="150876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50" spc="-1" strike="noStrike">
                <a:solidFill>
                  <a:srgbClr val="6ee7b7"/>
                </a:solidFill>
                <a:latin typeface="Calibri"/>
                <a:ea typeface="Calibri"/>
              </a:rPr>
              <a:t>201 000+ documents (2024-2026)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Text 11"/>
          <p:cNvSpPr/>
          <p:nvPr/>
        </p:nvSpPr>
        <p:spPr>
          <a:xfrm>
            <a:off x="365760" y="210312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50" spc="-1" strike="noStrike">
                <a:solidFill>
                  <a:srgbClr val="a5b4fc"/>
                </a:solidFill>
                <a:latin typeface="Calibri"/>
                <a:ea typeface="Calibri"/>
              </a:rPr>
              <a:t>Coherence des champs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Shape 12"/>
          <p:cNvSpPr/>
          <p:nvPr/>
        </p:nvSpPr>
        <p:spPr>
          <a:xfrm>
            <a:off x="2103120" y="2011680"/>
            <a:ext cx="3017160" cy="475200"/>
          </a:xfrm>
          <a:prstGeom prst="rect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Text 13"/>
          <p:cNvSpPr/>
          <p:nvPr/>
        </p:nvSpPr>
        <p:spPr>
          <a:xfrm>
            <a:off x="2194560" y="207576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50" spc="-1" strike="noStrike">
                <a:solidFill>
                  <a:srgbClr val="fca5a5"/>
                </a:solidFill>
                <a:latin typeface="Calibri"/>
                <a:ea typeface="Calibri"/>
              </a:rPr>
              <a:t>2 langues (FR + EN)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Text 14"/>
          <p:cNvSpPr/>
          <p:nvPr/>
        </p:nvSpPr>
        <p:spPr>
          <a:xfrm>
            <a:off x="5166360" y="2121480"/>
            <a:ext cx="273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200" spc="-1" strike="noStrike">
                <a:solidFill>
                  <a:srgbClr val="a855f7"/>
                </a:solidFill>
                <a:latin typeface="Calibri"/>
              </a:rPr>
              <a:t>=&gt;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Shape 15"/>
          <p:cNvSpPr/>
          <p:nvPr/>
        </p:nvSpPr>
        <p:spPr>
          <a:xfrm>
            <a:off x="5486400" y="2011680"/>
            <a:ext cx="3291480" cy="475200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Text 16"/>
          <p:cNvSpPr/>
          <p:nvPr/>
        </p:nvSpPr>
        <p:spPr>
          <a:xfrm>
            <a:off x="5577840" y="207576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50" spc="-1" strike="noStrike">
                <a:solidFill>
                  <a:srgbClr val="6ee7b7"/>
                </a:solidFill>
                <a:latin typeface="Calibri"/>
                <a:ea typeface="Calibri"/>
              </a:rPr>
              <a:t>100% en francais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Text 17"/>
          <p:cNvSpPr/>
          <p:nvPr/>
        </p:nvSpPr>
        <p:spPr>
          <a:xfrm>
            <a:off x="365760" y="267012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50" spc="-1" strike="noStrike">
                <a:solidFill>
                  <a:srgbClr val="a5b4fc"/>
                </a:solidFill>
                <a:latin typeface="Calibri"/>
                <a:ea typeface="Calibri"/>
              </a:rPr>
              <a:t>Champ Statut legal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Shape 18"/>
          <p:cNvSpPr/>
          <p:nvPr/>
        </p:nvSpPr>
        <p:spPr>
          <a:xfrm>
            <a:off x="2103120" y="2578680"/>
            <a:ext cx="3017160" cy="475200"/>
          </a:xfrm>
          <a:prstGeom prst="rect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Text 19"/>
          <p:cNvSpPr/>
          <p:nvPr/>
        </p:nvSpPr>
        <p:spPr>
          <a:xfrm>
            <a:off x="2194560" y="264276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50" spc="-1" strike="noStrike">
                <a:solidFill>
                  <a:srgbClr val="fca5a5"/>
                </a:solidFill>
                <a:latin typeface="Calibri"/>
                <a:ea typeface="Calibri"/>
              </a:rPr>
              <a:t>NULL pour 50 103 docs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 20"/>
          <p:cNvSpPr/>
          <p:nvPr/>
        </p:nvSpPr>
        <p:spPr>
          <a:xfrm>
            <a:off x="5166360" y="2688480"/>
            <a:ext cx="273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200" spc="-1" strike="noStrike">
                <a:solidFill>
                  <a:srgbClr val="a855f7"/>
                </a:solidFill>
                <a:latin typeface="Calibri"/>
              </a:rPr>
              <a:t>=&gt;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Shape 21"/>
          <p:cNvSpPr/>
          <p:nvPr/>
        </p:nvSpPr>
        <p:spPr>
          <a:xfrm>
            <a:off x="5486400" y="2578680"/>
            <a:ext cx="3291480" cy="475200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Text 22"/>
          <p:cNvSpPr/>
          <p:nvPr/>
        </p:nvSpPr>
        <p:spPr>
          <a:xfrm>
            <a:off x="5577840" y="264276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50" spc="-1" strike="noStrike">
                <a:solidFill>
                  <a:srgbClr val="6ee7b7"/>
                </a:solidFill>
                <a:latin typeface="Calibri"/>
                <a:ea typeface="Calibri"/>
              </a:rPr>
              <a:t>ACTIVE ou UNKNOWN pour tous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Text 23"/>
          <p:cNvSpPr/>
          <p:nvPr/>
        </p:nvSpPr>
        <p:spPr>
          <a:xfrm>
            <a:off x="365760" y="323712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50" spc="-1" strike="noStrike">
                <a:solidFill>
                  <a:srgbClr val="a5b4fc"/>
                </a:solidFill>
                <a:latin typeface="Calibri"/>
                <a:ea typeface="Calibri"/>
              </a:rPr>
              <a:t>Champ Resume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Shape 24"/>
          <p:cNvSpPr/>
          <p:nvPr/>
        </p:nvSpPr>
        <p:spPr>
          <a:xfrm>
            <a:off x="2103120" y="3145680"/>
            <a:ext cx="3017160" cy="475200"/>
          </a:xfrm>
          <a:prstGeom prst="rect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Text 25"/>
          <p:cNvSpPr/>
          <p:nvPr/>
        </p:nvSpPr>
        <p:spPr>
          <a:xfrm>
            <a:off x="2194560" y="320940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50" spc="-1" strike="noStrike">
                <a:solidFill>
                  <a:srgbClr val="fca5a5"/>
                </a:solidFill>
                <a:latin typeface="Calibri"/>
                <a:ea typeface="Calibri"/>
              </a:rPr>
              <a:t>Abstract (39 651 docs)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Text 26"/>
          <p:cNvSpPr/>
          <p:nvPr/>
        </p:nvSpPr>
        <p:spPr>
          <a:xfrm>
            <a:off x="5166360" y="3255120"/>
            <a:ext cx="273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200" spc="-1" strike="noStrike">
                <a:solidFill>
                  <a:srgbClr val="a855f7"/>
                </a:solidFill>
                <a:latin typeface="Calibri"/>
              </a:rPr>
              <a:t>=&gt;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Shape 27"/>
          <p:cNvSpPr/>
          <p:nvPr/>
        </p:nvSpPr>
        <p:spPr>
          <a:xfrm>
            <a:off x="5486400" y="3145680"/>
            <a:ext cx="3291480" cy="475200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Text 28"/>
          <p:cNvSpPr/>
          <p:nvPr/>
        </p:nvSpPr>
        <p:spPr>
          <a:xfrm>
            <a:off x="5577840" y="320940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50" spc="-1" strike="noStrike">
                <a:solidFill>
                  <a:srgbClr val="6ee7b7"/>
                </a:solidFill>
                <a:latin typeface="Calibri"/>
                <a:ea typeface="Calibri"/>
              </a:rPr>
              <a:t>Resume unifie sur tous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Text 29"/>
          <p:cNvSpPr/>
          <p:nvPr/>
        </p:nvSpPr>
        <p:spPr>
          <a:xfrm>
            <a:off x="365760" y="380376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50" spc="-1" strike="noStrike">
                <a:solidFill>
                  <a:srgbClr val="a5b4fc"/>
                </a:solidFill>
                <a:latin typeface="Calibri"/>
                <a:ea typeface="Calibri"/>
              </a:rPr>
              <a:t>Valeurs NULL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Shape 30"/>
          <p:cNvSpPr/>
          <p:nvPr/>
        </p:nvSpPr>
        <p:spPr>
          <a:xfrm>
            <a:off x="2103120" y="3712320"/>
            <a:ext cx="3017160" cy="475200"/>
          </a:xfrm>
          <a:prstGeom prst="rect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Text 31"/>
          <p:cNvSpPr/>
          <p:nvPr/>
        </p:nvSpPr>
        <p:spPr>
          <a:xfrm>
            <a:off x="2194560" y="377640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50" spc="-1" strike="noStrike">
                <a:solidFill>
                  <a:srgbClr val="fca5a5"/>
                </a:solidFill>
                <a:latin typeface="Calibri"/>
                <a:ea typeface="Calibri"/>
              </a:rPr>
              <a:t>Presentes (erreurs requetes)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Text 32"/>
          <p:cNvSpPr/>
          <p:nvPr/>
        </p:nvSpPr>
        <p:spPr>
          <a:xfrm>
            <a:off x="5166360" y="3822120"/>
            <a:ext cx="273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200" spc="-1" strike="noStrike">
                <a:solidFill>
                  <a:srgbClr val="a855f7"/>
                </a:solidFill>
                <a:latin typeface="Calibri"/>
              </a:rPr>
              <a:t>=&gt;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Shape 33"/>
          <p:cNvSpPr/>
          <p:nvPr/>
        </p:nvSpPr>
        <p:spPr>
          <a:xfrm>
            <a:off x="5486400" y="3712320"/>
            <a:ext cx="3291480" cy="475200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Text 34"/>
          <p:cNvSpPr/>
          <p:nvPr/>
        </p:nvSpPr>
        <p:spPr>
          <a:xfrm>
            <a:off x="5577840" y="377640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50" spc="-1" strike="noStrike">
                <a:solidFill>
                  <a:srgbClr val="6ee7b7"/>
                </a:solidFill>
                <a:latin typeface="Calibri"/>
                <a:ea typeface="Calibri"/>
              </a:rPr>
              <a:t>Aucune — valeurs par defaut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Shape 35"/>
          <p:cNvSpPr/>
          <p:nvPr/>
        </p:nvSpPr>
        <p:spPr>
          <a:xfrm>
            <a:off x="274320" y="4572000"/>
            <a:ext cx="8412120" cy="383760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a855f7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Text 36"/>
          <p:cNvSpPr/>
          <p:nvPr/>
        </p:nvSpPr>
        <p:spPr>
          <a:xfrm>
            <a:off x="457200" y="4572000"/>
            <a:ext cx="8229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50" spc="-1" strike="noStrike">
                <a:solidFill>
                  <a:srgbClr val="c4b5fd"/>
                </a:solidFill>
                <a:latin typeface="Calibri"/>
              </a:rPr>
              <a:t>Livrable final : Dashboard Patent Intelligence deploye sur Vercel + Render + MongoDB Atlas — Accessible en ligne : patent-intelligence.vercel.app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Header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e1b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Accent"/>
          <p:cNvSpPr/>
          <p:nvPr/>
        </p:nvSpPr>
        <p:spPr>
          <a:xfrm>
            <a:off x="0" y="0"/>
            <a:ext cx="109440" cy="91404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Sub"/>
          <p:cNvSpPr/>
          <p:nvPr/>
        </p:nvSpPr>
        <p:spPr>
          <a:xfrm>
            <a:off x="274320" y="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199" strike="noStrike">
                <a:solidFill>
                  <a:srgbClr val="a855f7"/>
                </a:solidFill>
                <a:latin typeface="Calibri"/>
              </a:rPr>
              <a:t>ETAPE 6 — DASHBOARD &amp; ANALYSE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itle"/>
          <p:cNvSpPr/>
          <p:nvPr/>
        </p:nvSpPr>
        <p:spPr>
          <a:xfrm>
            <a:off x="274320" y="3474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200" spc="-1" strike="noStrike">
                <a:solidFill>
                  <a:srgbClr val="ffffff"/>
                </a:solidFill>
                <a:latin typeface="Calibri"/>
              </a:rPr>
              <a:t>Fonctionnalites du Dashboard Patent Intelligence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F1bg"/>
          <p:cNvSpPr/>
          <p:nvPr/>
        </p:nvSpPr>
        <p:spPr>
          <a:xfrm>
            <a:off x="274320" y="1024200"/>
            <a:ext cx="4115520" cy="749520"/>
          </a:xfrm>
          <a:prstGeom prst="rect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F1acc"/>
          <p:cNvSpPr/>
          <p:nvPr/>
        </p:nvSpPr>
        <p:spPr>
          <a:xfrm>
            <a:off x="274320" y="1024200"/>
            <a:ext cx="63720" cy="74952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F1title"/>
          <p:cNvSpPr/>
          <p:nvPr/>
        </p:nvSpPr>
        <p:spPr>
          <a:xfrm>
            <a:off x="438840" y="1059840"/>
            <a:ext cx="379980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50" spc="-1" strike="noStrike">
                <a:solidFill>
                  <a:srgbClr val="7c3aed"/>
                </a:solidFill>
                <a:latin typeface="Calibri"/>
              </a:rPr>
              <a:t>KPIs Globaux &amp; Qualite des Donnees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F1desc"/>
          <p:cNvSpPr/>
          <p:nvPr/>
        </p:nvSpPr>
        <p:spPr>
          <a:xfrm>
            <a:off x="438840" y="1360080"/>
            <a:ext cx="379980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50" spc="-1" strike="noStrike">
                <a:solidFill>
                  <a:srgbClr val="64748b"/>
                </a:solidFill>
                <a:latin typeface="Calibri"/>
              </a:rPr>
              <a:t>Total brevets · % avec resume · Moy. citations · Distribution par annee. Indicateurs de completude du dataset.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F2bg"/>
          <p:cNvSpPr/>
          <p:nvPr/>
        </p:nvSpPr>
        <p:spPr>
          <a:xfrm>
            <a:off x="4663800" y="1024200"/>
            <a:ext cx="4206600" cy="749520"/>
          </a:xfrm>
          <a:prstGeom prst="rect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F2acc"/>
          <p:cNvSpPr/>
          <p:nvPr/>
        </p:nvSpPr>
        <p:spPr>
          <a:xfrm>
            <a:off x="4663800" y="1024200"/>
            <a:ext cx="63720" cy="74952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F2title"/>
          <p:cNvSpPr/>
          <p:nvPr/>
        </p:nvSpPr>
        <p:spPr>
          <a:xfrm>
            <a:off x="4828680" y="1059840"/>
            <a:ext cx="389952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50" spc="-1" strike="noStrike">
                <a:solidFill>
                  <a:srgbClr val="10b981"/>
                </a:solidFill>
                <a:latin typeface="Calibri"/>
              </a:rPr>
              <a:t>Analyse Predictive — 5 Modules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F2desc"/>
          <p:cNvSpPr/>
          <p:nvPr/>
        </p:nvSpPr>
        <p:spPr>
          <a:xfrm>
            <a:off x="4828680" y="1360080"/>
            <a:ext cx="389952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50" spc="-1" strike="noStrike">
                <a:solidFill>
                  <a:srgbClr val="64748b"/>
                </a:solidFill>
                <a:latin typeface="Calibri"/>
              </a:rPr>
              <a:t>Tendances · Regression lineaire 2027 · Technologie R&amp;D · Concurrents (score de menace) · Zones geographiques.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F3bg"/>
          <p:cNvSpPr/>
          <p:nvPr/>
        </p:nvSpPr>
        <p:spPr>
          <a:xfrm>
            <a:off x="274320" y="1929960"/>
            <a:ext cx="4115520" cy="749520"/>
          </a:xfrm>
          <a:prstGeom prst="rect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F3acc"/>
          <p:cNvSpPr/>
          <p:nvPr/>
        </p:nvSpPr>
        <p:spPr>
          <a:xfrm>
            <a:off x="274320" y="1929960"/>
            <a:ext cx="63720" cy="74952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F3title"/>
          <p:cNvSpPr/>
          <p:nvPr/>
        </p:nvSpPr>
        <p:spPr>
          <a:xfrm>
            <a:off x="438840" y="1965960"/>
            <a:ext cx="379980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50" spc="-1" strike="noStrike">
                <a:solidFill>
                  <a:srgbClr val="f59e0b"/>
                </a:solidFill>
                <a:latin typeface="Calibri"/>
              </a:rPr>
              <a:t>Recherche Full-Text &amp; Filtres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F3desc"/>
          <p:cNvSpPr/>
          <p:nvPr/>
        </p:nvSpPr>
        <p:spPr>
          <a:xfrm>
            <a:off x="438840" y="2265840"/>
            <a:ext cx="379980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50" spc="-1" strike="noStrike">
                <a:solidFill>
                  <a:srgbClr val="64748b"/>
                </a:solidFill>
                <a:latin typeface="Calibri"/>
              </a:rPr>
              <a:t>Recherche MongoDB $regex insensible casse sur Titre &amp; Candidats. Filtres Juridiction / Annee. Limite 50 resultats.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F4bg"/>
          <p:cNvSpPr/>
          <p:nvPr/>
        </p:nvSpPr>
        <p:spPr>
          <a:xfrm>
            <a:off x="4663800" y="1929960"/>
            <a:ext cx="4206600" cy="749520"/>
          </a:xfrm>
          <a:prstGeom prst="rect">
            <a:avLst/>
          </a:prstGeom>
          <a:solidFill>
            <a:srgbClr val="ef4444">
              <a:alpha val="8000"/>
            </a:srgbClr>
          </a:solidFill>
          <a:ln w="12700">
            <a:solidFill>
              <a:srgbClr val="ef4444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F4acc"/>
          <p:cNvSpPr/>
          <p:nvPr/>
        </p:nvSpPr>
        <p:spPr>
          <a:xfrm>
            <a:off x="4663800" y="1929960"/>
            <a:ext cx="63720" cy="74952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F4title"/>
          <p:cNvSpPr/>
          <p:nvPr/>
        </p:nvSpPr>
        <p:spPr>
          <a:xfrm>
            <a:off x="4828680" y="1965960"/>
            <a:ext cx="389952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50" spc="-1" strike="noStrike">
                <a:solidFill>
                  <a:srgbClr val="ef4444"/>
                </a:solidFill>
                <a:latin typeface="Calibri"/>
              </a:rPr>
              <a:t>Alerte Concurrentielle — Brevets Fort Impact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F4desc"/>
          <p:cNvSpPr/>
          <p:nvPr/>
        </p:nvSpPr>
        <p:spPr>
          <a:xfrm>
            <a:off x="4828680" y="2265840"/>
            <a:ext cx="389952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50" spc="-1" strike="noStrike">
                <a:solidFill>
                  <a:srgbClr val="64748b"/>
                </a:solidFill>
                <a:latin typeface="Calibri"/>
              </a:rPr>
              <a:t>Score impact = citedBy / (cites + 1). Filtrable par domaine. Top brevets a surveiller par concurrents.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F5bg"/>
          <p:cNvSpPr/>
          <p:nvPr/>
        </p:nvSpPr>
        <p:spPr>
          <a:xfrm>
            <a:off x="274320" y="2836080"/>
            <a:ext cx="4115520" cy="749520"/>
          </a:xfrm>
          <a:prstGeom prst="rect">
            <a:avLst/>
          </a:prstGeom>
          <a:solidFill>
            <a:srgbClr val="3b82f6">
              <a:alpha val="8000"/>
            </a:srgbClr>
          </a:solidFill>
          <a:ln w="12700">
            <a:solidFill>
              <a:srgbClr val="3b82f6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F5acc"/>
          <p:cNvSpPr/>
          <p:nvPr/>
        </p:nvSpPr>
        <p:spPr>
          <a:xfrm>
            <a:off x="274320" y="2836080"/>
            <a:ext cx="63720" cy="74952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F5title"/>
          <p:cNvSpPr/>
          <p:nvPr/>
        </p:nvSpPr>
        <p:spPr>
          <a:xfrm>
            <a:off x="438840" y="2872080"/>
            <a:ext cx="379980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50" spc="-1" strike="noStrike">
                <a:solidFill>
                  <a:srgbClr val="3b82f6"/>
                </a:solidFill>
                <a:latin typeface="Calibri"/>
              </a:rPr>
              <a:t>Repartition Juridiction / Domaine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F5desc"/>
          <p:cNvSpPr/>
          <p:nvPr/>
        </p:nvSpPr>
        <p:spPr>
          <a:xfrm>
            <a:off x="438840" y="3171960"/>
            <a:ext cx="379980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50" spc="-1" strike="noStrike">
                <a:solidFill>
                  <a:srgbClr val="64748b"/>
                </a:solidFill>
                <a:latin typeface="Calibri"/>
              </a:rPr>
              <a:t>Pie chart interactif toggle Juridiction / Domaine. CN · US · EP dominant. 7 domaines via regex sur Titre.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F6bg"/>
          <p:cNvSpPr/>
          <p:nvPr/>
        </p:nvSpPr>
        <p:spPr>
          <a:xfrm>
            <a:off x="4663800" y="2836080"/>
            <a:ext cx="4206600" cy="749520"/>
          </a:xfrm>
          <a:prstGeom prst="rect">
            <a:avLst/>
          </a:prstGeom>
          <a:solidFill>
            <a:srgbClr val="a855f7">
              <a:alpha val="8000"/>
            </a:srgbClr>
          </a:solidFill>
          <a:ln w="12700">
            <a:solidFill>
              <a:srgbClr val="a855f7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F6acc"/>
          <p:cNvSpPr/>
          <p:nvPr/>
        </p:nvSpPr>
        <p:spPr>
          <a:xfrm>
            <a:off x="4663800" y="2836080"/>
            <a:ext cx="63720" cy="749520"/>
          </a:xfrm>
          <a:prstGeom prst="rect">
            <a:avLst/>
          </a:prstGeom>
          <a:solidFill>
            <a:srgbClr val="a85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F6title"/>
          <p:cNvSpPr/>
          <p:nvPr/>
        </p:nvSpPr>
        <p:spPr>
          <a:xfrm>
            <a:off x="4828680" y="2872080"/>
            <a:ext cx="389952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50" spc="-1" strike="noStrike">
                <a:solidFill>
                  <a:srgbClr val="a855f7"/>
                </a:solidFill>
                <a:latin typeface="Calibri"/>
              </a:rPr>
              <a:t>Top 20 Depo sants &amp; Auto-Refresh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F6desc"/>
          <p:cNvSpPr/>
          <p:nvPr/>
        </p:nvSpPr>
        <p:spPr>
          <a:xfrm>
            <a:off x="4828680" y="3171960"/>
            <a:ext cx="389952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50" spc="-1" strike="noStrike">
                <a:solidFill>
                  <a:srgbClr val="64748b"/>
                </a:solidFill>
                <a:latin typeface="Calibri"/>
              </a:rPr>
              <a:t>Samsung · Huawei · Qualcomm. Graphique barres horizontal. Rafraichissement auto toutes les 30s via setInterval.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URL"/>
          <p:cNvSpPr/>
          <p:nvPr/>
        </p:nvSpPr>
        <p:spPr>
          <a:xfrm>
            <a:off x="274320" y="3750120"/>
            <a:ext cx="8595720" cy="279720"/>
          </a:xfrm>
          <a:prstGeom prst="rect">
            <a:avLst/>
          </a:prstGeom>
          <a:solidFill>
            <a:srgbClr val="7c3aed">
              <a:alpha val="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800" spc="-1" strike="noStrike">
                <a:solidFill>
                  <a:srgbClr val="7c3aed"/>
                </a:solidFill>
                <a:latin typeface="Calibri"/>
              </a:rPr>
              <a:t>patent-intelligence.vercel.app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H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e1b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H2"/>
          <p:cNvSpPr/>
          <p:nvPr/>
        </p:nvSpPr>
        <p:spPr>
          <a:xfrm>
            <a:off x="0" y="0"/>
            <a:ext cx="109440" cy="91404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Sub"/>
          <p:cNvSpPr/>
          <p:nvPr/>
        </p:nvSpPr>
        <p:spPr>
          <a:xfrm>
            <a:off x="274320" y="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199" strike="noStrike">
                <a:solidFill>
                  <a:srgbClr val="10b981"/>
                </a:solidFill>
                <a:latin typeface="Calibri"/>
              </a:rPr>
              <a:t>ETAPE 7 — TEMPS REEL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Title"/>
          <p:cNvSpPr/>
          <p:nvPr/>
        </p:nvSpPr>
        <p:spPr>
          <a:xfrm>
            <a:off x="274320" y="3474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200" spc="-1" strike="noStrike">
                <a:solidFill>
                  <a:srgbClr val="ffffff"/>
                </a:solidFill>
                <a:latin typeface="Calibri"/>
              </a:rPr>
              <a:t>Auto-Import The Lens API — Pipeline Temps Reel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S1bg"/>
          <p:cNvSpPr/>
          <p:nvPr/>
        </p:nvSpPr>
        <p:spPr>
          <a:xfrm>
            <a:off x="274320" y="1024200"/>
            <a:ext cx="1899720" cy="3199680"/>
          </a:xfrm>
          <a:prstGeom prst="rect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S1acc"/>
          <p:cNvSpPr/>
          <p:nvPr/>
        </p:nvSpPr>
        <p:spPr>
          <a:xfrm>
            <a:off x="274320" y="1024200"/>
            <a:ext cx="63720" cy="319968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S1num"/>
          <p:cNvSpPr/>
          <p:nvPr/>
        </p:nvSpPr>
        <p:spPr>
          <a:xfrm>
            <a:off x="438840" y="1080000"/>
            <a:ext cx="159948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rgbClr val="10b981"/>
                </a:solidFill>
                <a:latin typeface="Calibri"/>
              </a:rPr>
              <a:t>01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S1title"/>
          <p:cNvSpPr/>
          <p:nvPr/>
        </p:nvSpPr>
        <p:spPr>
          <a:xfrm>
            <a:off x="438840" y="1460160"/>
            <a:ext cx="159948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10b981"/>
                </a:solidFill>
                <a:latin typeface="Calibri"/>
              </a:rPr>
              <a:t>Requete API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S1desc"/>
          <p:cNvSpPr/>
          <p:nvPr/>
        </p:nvSpPr>
        <p:spPr>
          <a:xfrm>
            <a:off x="438840" y="1779840"/>
            <a:ext cx="1599480" cy="11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800" spc="-1" strike="noStrike">
                <a:solidFill>
                  <a:srgbClr val="64748b"/>
                </a:solidFill>
                <a:latin typeface="Calibri"/>
              </a:rPr>
              <a:t>POST /patent/search toutes les 30s. Filtre : granted_patent + lang:en . Offset aléatoire.</a:t>
            </a:r>
            <a:endParaRPr b="1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S2bg"/>
          <p:cNvSpPr/>
          <p:nvPr/>
        </p:nvSpPr>
        <p:spPr>
          <a:xfrm>
            <a:off x="2450160" y="1024200"/>
            <a:ext cx="1899720" cy="3199680"/>
          </a:xfrm>
          <a:prstGeom prst="rect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S2acc"/>
          <p:cNvSpPr/>
          <p:nvPr/>
        </p:nvSpPr>
        <p:spPr>
          <a:xfrm>
            <a:off x="2450160" y="1024200"/>
            <a:ext cx="63720" cy="319968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S2num"/>
          <p:cNvSpPr/>
          <p:nvPr/>
        </p:nvSpPr>
        <p:spPr>
          <a:xfrm>
            <a:off x="2614680" y="1080000"/>
            <a:ext cx="159948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rgbClr val="7c3aed"/>
                </a:solidFill>
                <a:latin typeface="Calibri"/>
              </a:rPr>
              <a:t>02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S2title"/>
          <p:cNvSpPr/>
          <p:nvPr/>
        </p:nvSpPr>
        <p:spPr>
          <a:xfrm>
            <a:off x="2614680" y="1460160"/>
            <a:ext cx="159948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7c3aed"/>
                </a:solidFill>
                <a:latin typeface="Calibri"/>
              </a:rPr>
              <a:t>Mapping &amp; Normalisation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S2desc"/>
          <p:cNvSpPr/>
          <p:nvPr/>
        </p:nvSpPr>
        <p:spPr>
          <a:xfrm>
            <a:off x="2614680" y="1779840"/>
            <a:ext cx="1599480" cy="11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800" spc="-1" strike="noStrike">
                <a:solidFill>
                  <a:srgbClr val="64748b"/>
                </a:solidFill>
                <a:latin typeface="Calibri"/>
              </a:rPr>
              <a:t>Structure biblio imbriquée (biblio.invention_title). Fallback EN-FR. Meme schema Mongoose que dataset initial.</a:t>
            </a:r>
            <a:endParaRPr b="1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S3bg"/>
          <p:cNvSpPr/>
          <p:nvPr/>
        </p:nvSpPr>
        <p:spPr>
          <a:xfrm>
            <a:off x="4626000" y="1024200"/>
            <a:ext cx="1899720" cy="3199680"/>
          </a:xfrm>
          <a:prstGeom prst="rect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S3acc"/>
          <p:cNvSpPr/>
          <p:nvPr/>
        </p:nvSpPr>
        <p:spPr>
          <a:xfrm>
            <a:off x="4626000" y="1024200"/>
            <a:ext cx="63720" cy="319968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S3num"/>
          <p:cNvSpPr/>
          <p:nvPr/>
        </p:nvSpPr>
        <p:spPr>
          <a:xfrm>
            <a:off x="4790520" y="1080000"/>
            <a:ext cx="159948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rgbClr val="f59e0b"/>
                </a:solidFill>
                <a:latin typeface="Calibri"/>
              </a:rPr>
              <a:t>03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S3title"/>
          <p:cNvSpPr/>
          <p:nvPr/>
        </p:nvSpPr>
        <p:spPr>
          <a:xfrm>
            <a:off x="4790520" y="1460160"/>
            <a:ext cx="159948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f59e0b"/>
                </a:solidFill>
                <a:latin typeface="Calibri"/>
              </a:rPr>
              <a:t>Déduplication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S3desc"/>
          <p:cNvSpPr/>
          <p:nvPr/>
        </p:nvSpPr>
        <p:spPr>
          <a:xfrm>
            <a:off x="4790520" y="1779840"/>
            <a:ext cx="1599480" cy="11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800" spc="-1" strike="noStrike">
                <a:solidFill>
                  <a:srgbClr val="64748b"/>
                </a:solidFill>
                <a:latin typeface="Calibri"/>
              </a:rPr>
              <a:t>Verification Identifiant de The Lens avant insertion. Doublons ignores silencieusement. Log : +N inserés / M doublons</a:t>
            </a:r>
            <a:r>
              <a:rPr b="0" lang="fr-FR" sz="800" spc="-1" strike="noStrike">
                <a:solidFill>
                  <a:srgbClr val="64748b"/>
                </a:solidFill>
                <a:latin typeface="Calibri"/>
              </a:rPr>
              <a:t>.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S4bg"/>
          <p:cNvSpPr/>
          <p:nvPr/>
        </p:nvSpPr>
        <p:spPr>
          <a:xfrm>
            <a:off x="6800040" y="1024200"/>
            <a:ext cx="2069640" cy="3199680"/>
          </a:xfrm>
          <a:prstGeom prst="rect">
            <a:avLst/>
          </a:prstGeom>
          <a:solidFill>
            <a:srgbClr val="ef4444">
              <a:alpha val="8000"/>
            </a:srgbClr>
          </a:solidFill>
          <a:ln w="12700">
            <a:solidFill>
              <a:srgbClr val="ef4444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S4acc"/>
          <p:cNvSpPr/>
          <p:nvPr/>
        </p:nvSpPr>
        <p:spPr>
          <a:xfrm>
            <a:off x="6800040" y="1024200"/>
            <a:ext cx="63720" cy="319968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S4num"/>
          <p:cNvSpPr/>
          <p:nvPr/>
        </p:nvSpPr>
        <p:spPr>
          <a:xfrm>
            <a:off x="6964560" y="1080000"/>
            <a:ext cx="169956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rgbClr val="ef4444"/>
                </a:solidFill>
                <a:latin typeface="Calibri"/>
              </a:rPr>
              <a:t>04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S4title"/>
          <p:cNvSpPr/>
          <p:nvPr/>
        </p:nvSpPr>
        <p:spPr>
          <a:xfrm>
            <a:off x="6964560" y="1460160"/>
            <a:ext cx="169956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ef4444"/>
                </a:solidFill>
                <a:latin typeface="Calibri"/>
              </a:rPr>
              <a:t>Dashboard Live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S4desc"/>
          <p:cNvSpPr/>
          <p:nvPr/>
        </p:nvSpPr>
        <p:spPr>
          <a:xfrm>
            <a:off x="6964560" y="1779840"/>
            <a:ext cx="1699560" cy="11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800" spc="-1" strike="noStrike">
                <a:solidFill>
                  <a:srgbClr val="64748b"/>
                </a:solidFill>
                <a:latin typeface="Calibri"/>
              </a:rPr>
              <a:t>KPI Total se met à jour en temps réel. Visible en demo : +3 brevets toutes les 30s sur le dashboard.</a:t>
            </a:r>
            <a:endParaRPr b="1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Stats"/>
          <p:cNvSpPr/>
          <p:nvPr/>
        </p:nvSpPr>
        <p:spPr>
          <a:xfrm>
            <a:off x="274320" y="4399920"/>
            <a:ext cx="8595720" cy="319680"/>
          </a:xfrm>
          <a:prstGeom prst="rect">
            <a:avLst/>
          </a:prstGeom>
          <a:solidFill>
            <a:srgbClr val="1e1b4b">
              <a:alpha val="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7c3aed"/>
                </a:solidFill>
                <a:latin typeface="Calibri"/>
              </a:rPr>
              <a:t>132 000+ brevets dans Atlas  |  3 brevets / 30s  |  Déduplication automatique  |  Quota gratuit respecté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H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e1b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H2"/>
          <p:cNvSpPr/>
          <p:nvPr/>
        </p:nvSpPr>
        <p:spPr>
          <a:xfrm>
            <a:off x="0" y="0"/>
            <a:ext cx="109440" cy="91404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Sub"/>
          <p:cNvSpPr/>
          <p:nvPr/>
        </p:nvSpPr>
        <p:spPr>
          <a:xfrm>
            <a:off x="274320" y="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199" strike="noStrike">
                <a:solidFill>
                  <a:srgbClr val="3b82f6"/>
                </a:solidFill>
                <a:latin typeface="Calibri"/>
              </a:rPr>
              <a:t>ETAPE 8 — DEPLOIEMENT CLOUD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Title"/>
          <p:cNvSpPr/>
          <p:nvPr/>
        </p:nvSpPr>
        <p:spPr>
          <a:xfrm>
            <a:off x="274320" y="3474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200" spc="-1" strike="noStrike">
                <a:solidFill>
                  <a:srgbClr val="ffffff"/>
                </a:solidFill>
                <a:latin typeface="Calibri"/>
              </a:rPr>
              <a:t>Architecture Cloud — Vercel + Render + MongoDB Atlas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DB_bg"/>
          <p:cNvSpPr/>
          <p:nvPr/>
        </p:nvSpPr>
        <p:spPr>
          <a:xfrm>
            <a:off x="274320" y="1100160"/>
            <a:ext cx="2599560" cy="1599840"/>
          </a:xfrm>
          <a:prstGeom prst="rect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DB_acc"/>
          <p:cNvSpPr/>
          <p:nvPr/>
        </p:nvSpPr>
        <p:spPr>
          <a:xfrm>
            <a:off x="274320" y="1100160"/>
            <a:ext cx="63720" cy="159984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DB_title"/>
          <p:cNvSpPr/>
          <p:nvPr/>
        </p:nvSpPr>
        <p:spPr>
          <a:xfrm>
            <a:off x="438840" y="1159920"/>
            <a:ext cx="229968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400" spc="-1" strike="noStrike">
                <a:solidFill>
                  <a:srgbClr val="10b981"/>
                </a:solidFill>
                <a:latin typeface="Calibri"/>
              </a:rPr>
              <a:t>MongoDB Atlas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DB_sub"/>
          <p:cNvSpPr/>
          <p:nvPr/>
        </p:nvSpPr>
        <p:spPr>
          <a:xfrm>
            <a:off x="438840" y="1550160"/>
            <a:ext cx="229968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10b981"/>
                </a:solidFill>
                <a:latin typeface="Calibri"/>
              </a:rPr>
              <a:t>M0 Free — Europe Frankfurt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DB_desc"/>
          <p:cNvSpPr/>
          <p:nvPr/>
        </p:nvSpPr>
        <p:spPr>
          <a:xfrm>
            <a:off x="438840" y="1869840"/>
            <a:ext cx="2299680" cy="11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50" spc="-1" strike="noStrike">
                <a:solidFill>
                  <a:srgbClr val="64748b"/>
                </a:solidFill>
                <a:latin typeface="Calibri"/>
              </a:rPr>
              <a:t>201 000+ brevets. Migration via mongodump / mongorestore. Quota 512 MB. Index sur Annee, Juridiction, Candidats.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BE_bg"/>
          <p:cNvSpPr/>
          <p:nvPr/>
        </p:nvSpPr>
        <p:spPr>
          <a:xfrm>
            <a:off x="3272040" y="1100160"/>
            <a:ext cx="2599560" cy="1599840"/>
          </a:xfrm>
          <a:prstGeom prst="rect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BE_acc"/>
          <p:cNvSpPr/>
          <p:nvPr/>
        </p:nvSpPr>
        <p:spPr>
          <a:xfrm>
            <a:off x="3272040" y="1100160"/>
            <a:ext cx="63720" cy="159984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" name="BE_title"/>
          <p:cNvSpPr/>
          <p:nvPr/>
        </p:nvSpPr>
        <p:spPr>
          <a:xfrm>
            <a:off x="3436560" y="1159920"/>
            <a:ext cx="229968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400" spc="-1" strike="noStrike">
                <a:solidFill>
                  <a:srgbClr val="7c3aed"/>
                </a:solidFill>
                <a:latin typeface="Calibri"/>
              </a:rPr>
              <a:t>Render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BE_sub"/>
          <p:cNvSpPr/>
          <p:nvPr/>
        </p:nvSpPr>
        <p:spPr>
          <a:xfrm>
            <a:off x="3436560" y="1550160"/>
            <a:ext cx="229968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7c3aed"/>
                </a:solidFill>
                <a:latin typeface="Calibri"/>
              </a:rPr>
              <a:t>Backend Node.js / Express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BE_desc"/>
          <p:cNvSpPr/>
          <p:nvPr/>
        </p:nvSpPr>
        <p:spPr>
          <a:xfrm>
            <a:off x="3436560" y="1869840"/>
            <a:ext cx="2299680" cy="11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50" spc="-1" strike="noStrike">
                <a:solidFill>
                  <a:srgbClr val="64748b"/>
                </a:solidFill>
                <a:latin typeface="Calibri"/>
              </a:rPr>
              <a:t>Free tier. Auto-deploy GitHub. Variables env MONGO_URI + LENS_API_KEY. Auto-import actif 24h/24.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FE_bg"/>
          <p:cNvSpPr/>
          <p:nvPr/>
        </p:nvSpPr>
        <p:spPr>
          <a:xfrm>
            <a:off x="6270120" y="1100160"/>
            <a:ext cx="2599560" cy="1599840"/>
          </a:xfrm>
          <a:prstGeom prst="rect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FE_acc"/>
          <p:cNvSpPr/>
          <p:nvPr/>
        </p:nvSpPr>
        <p:spPr>
          <a:xfrm>
            <a:off x="6270120" y="1100160"/>
            <a:ext cx="29880" cy="159984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FE_title"/>
          <p:cNvSpPr/>
          <p:nvPr/>
        </p:nvSpPr>
        <p:spPr>
          <a:xfrm>
            <a:off x="6434640" y="1159920"/>
            <a:ext cx="229968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400" spc="-1" strike="noStrike">
                <a:solidFill>
                  <a:srgbClr val="f59e0b"/>
                </a:solidFill>
                <a:latin typeface="Calibri"/>
              </a:rPr>
              <a:t>Vercel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FE_sub"/>
          <p:cNvSpPr/>
          <p:nvPr/>
        </p:nvSpPr>
        <p:spPr>
          <a:xfrm>
            <a:off x="6434640" y="1550160"/>
            <a:ext cx="229968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f59e0b"/>
                </a:solidFill>
                <a:latin typeface="Calibri"/>
              </a:rPr>
              <a:t>Frontend React / Vite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FE_desc"/>
          <p:cNvSpPr/>
          <p:nvPr/>
        </p:nvSpPr>
        <p:spPr>
          <a:xfrm>
            <a:off x="6434640" y="1869840"/>
            <a:ext cx="2299680" cy="11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50" spc="-1" strike="noStrike">
                <a:solidFill>
                  <a:srgbClr val="64748b"/>
                </a:solidFill>
                <a:latin typeface="Calibri"/>
              </a:rPr>
              <a:t>CDN global. Build vite. Deploy auto sur push GitHub. URL publique stable ,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URL"/>
          <p:cNvSpPr/>
          <p:nvPr/>
        </p:nvSpPr>
        <p:spPr>
          <a:xfrm>
            <a:off x="224280" y="2880000"/>
            <a:ext cx="8595720" cy="319680"/>
          </a:xfrm>
          <a:prstGeom prst="rect">
            <a:avLst/>
          </a:prstGeom>
          <a:solidFill>
            <a:srgbClr val="3b82f6">
              <a:alpha val="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3b82f6"/>
                </a:solidFill>
                <a:latin typeface="Calibri"/>
              </a:rPr>
              <a:t>patent-intelligence.vercel.app  |  patent-intelligence-cr52.onrender.com/api/stats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Shape 1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Text 2"/>
          <p:cNvSpPr/>
          <p:nvPr/>
        </p:nvSpPr>
        <p:spPr>
          <a:xfrm>
            <a:off x="1371600" y="502920"/>
            <a:ext cx="6400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299" strike="noStrike">
                <a:solidFill>
                  <a:srgbClr val="a855f7"/>
                </a:solidFill>
                <a:latin typeface="Calibri"/>
              </a:rPr>
              <a:t>CONCLUSION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Text 3"/>
          <p:cNvSpPr/>
          <p:nvPr/>
        </p:nvSpPr>
        <p:spPr>
          <a:xfrm>
            <a:off x="1371600" y="841320"/>
            <a:ext cx="6400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600" spc="-1" strike="noStrike">
                <a:solidFill>
                  <a:srgbClr val="ffffff"/>
                </a:solidFill>
                <a:latin typeface="Calibri"/>
              </a:rPr>
              <a:t>Ce que ce projet m'a appris</a:t>
            </a:r>
            <a:endParaRPr b="0" lang="fr-F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Text 4"/>
          <p:cNvSpPr/>
          <p:nvPr/>
        </p:nvSpPr>
        <p:spPr>
          <a:xfrm>
            <a:off x="1371600" y="1353240"/>
            <a:ext cx="6400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200" spc="-1" strike="noStrike">
                <a:solidFill>
                  <a:srgbClr val="a855f7"/>
                </a:solidFill>
                <a:latin typeface="Calibri"/>
              </a:rPr>
              <a:t>sur l'Analyse de Bases de Données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Shape 5"/>
          <p:cNvSpPr/>
          <p:nvPr/>
        </p:nvSpPr>
        <p:spPr>
          <a:xfrm>
            <a:off x="1371600" y="2011680"/>
            <a:ext cx="6400440" cy="59400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Shape 6"/>
          <p:cNvSpPr/>
          <p:nvPr/>
        </p:nvSpPr>
        <p:spPr>
          <a:xfrm>
            <a:off x="1463040" y="2121480"/>
            <a:ext cx="347040" cy="3470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Text 7"/>
          <p:cNvSpPr/>
          <p:nvPr/>
        </p:nvSpPr>
        <p:spPr>
          <a:xfrm>
            <a:off x="1463040" y="21214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Text 8"/>
          <p:cNvSpPr/>
          <p:nvPr/>
        </p:nvSpPr>
        <p:spPr>
          <a:xfrm>
            <a:off x="1920240" y="2066400"/>
            <a:ext cx="5668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-1" strike="noStrike">
                <a:solidFill>
                  <a:srgbClr val="c4b5fd"/>
                </a:solidFill>
                <a:latin typeface="Calibri"/>
              </a:rPr>
              <a:t>La qualité des données prime sur la quantité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Text 9"/>
          <p:cNvSpPr/>
          <p:nvPr/>
        </p:nvSpPr>
        <p:spPr>
          <a:xfrm>
            <a:off x="1920240" y="2322720"/>
            <a:ext cx="5668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8b9cb6"/>
                </a:solidFill>
                <a:latin typeface="Calibri"/>
                <a:ea typeface="Calibri"/>
              </a:rPr>
              <a:t>100K brevets inutilisables sans nettoyage préalable Le preprocessing représente 60% du travail. Pipeline étendu : 201 000+ brevets + auto-import temps réel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Shape 10"/>
          <p:cNvSpPr/>
          <p:nvPr/>
        </p:nvSpPr>
        <p:spPr>
          <a:xfrm>
            <a:off x="1371600" y="2706480"/>
            <a:ext cx="6400440" cy="59400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Shape 11"/>
          <p:cNvSpPr/>
          <p:nvPr/>
        </p:nvSpPr>
        <p:spPr>
          <a:xfrm>
            <a:off x="1463040" y="2816280"/>
            <a:ext cx="347040" cy="3470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Text 12"/>
          <p:cNvSpPr/>
          <p:nvPr/>
        </p:nvSpPr>
        <p:spPr>
          <a:xfrm>
            <a:off x="1463040" y="28162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Text 13"/>
          <p:cNvSpPr/>
          <p:nvPr/>
        </p:nvSpPr>
        <p:spPr>
          <a:xfrm>
            <a:off x="1920240" y="2761560"/>
            <a:ext cx="5668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-1" strike="noStrike">
                <a:solidFill>
                  <a:srgbClr val="c4b5fd"/>
                </a:solidFill>
                <a:latin typeface="Calibri"/>
              </a:rPr>
              <a:t>Documenter les transformations est essentiel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Text 14"/>
          <p:cNvSpPr/>
          <p:nvPr/>
        </p:nvSpPr>
        <p:spPr>
          <a:xfrm>
            <a:off x="1920240" y="3017520"/>
            <a:ext cx="5668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8b9cb6"/>
                </a:solidFill>
                <a:latin typeface="Calibri"/>
                <a:ea typeface="Calibri"/>
              </a:rPr>
              <a:t>Chaque $rename, $set et suppression doit être trace pour garantir la reproductibilité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Shape 15"/>
          <p:cNvSpPr/>
          <p:nvPr/>
        </p:nvSpPr>
        <p:spPr>
          <a:xfrm>
            <a:off x="1371600" y="3401640"/>
            <a:ext cx="6400440" cy="59400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Shape 16"/>
          <p:cNvSpPr/>
          <p:nvPr/>
        </p:nvSpPr>
        <p:spPr>
          <a:xfrm>
            <a:off x="1463040" y="3511440"/>
            <a:ext cx="347040" cy="3470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Text 17"/>
          <p:cNvSpPr/>
          <p:nvPr/>
        </p:nvSpPr>
        <p:spPr>
          <a:xfrm>
            <a:off x="1463040" y="35114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Text 18"/>
          <p:cNvSpPr/>
          <p:nvPr/>
        </p:nvSpPr>
        <p:spPr>
          <a:xfrm>
            <a:off x="1920240" y="3456360"/>
            <a:ext cx="5668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-1" strike="noStrike">
                <a:solidFill>
                  <a:srgbClr val="c4b5fd"/>
                </a:solidFill>
                <a:latin typeface="Calibri"/>
              </a:rPr>
              <a:t>Adapter la méthode à la réalité des données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Text 19"/>
          <p:cNvSpPr/>
          <p:nvPr/>
        </p:nvSpPr>
        <p:spPr>
          <a:xfrm>
            <a:off x="1920240" y="3712320"/>
            <a:ext cx="5668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8b9cb6"/>
                </a:solidFill>
                <a:latin typeface="Calibri"/>
                <a:ea typeface="Calibri"/>
              </a:rPr>
              <a:t>La régression sur citations était théoriquement correcte mais empiriquement inapplicable sur ce dataset.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Shape 20"/>
          <p:cNvSpPr/>
          <p:nvPr/>
        </p:nvSpPr>
        <p:spPr>
          <a:xfrm>
            <a:off x="1371600" y="4096440"/>
            <a:ext cx="6400440" cy="59400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Shape 21"/>
          <p:cNvSpPr/>
          <p:nvPr/>
        </p:nvSpPr>
        <p:spPr>
          <a:xfrm>
            <a:off x="1463040" y="4206240"/>
            <a:ext cx="347040" cy="3470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Text 22"/>
          <p:cNvSpPr/>
          <p:nvPr/>
        </p:nvSpPr>
        <p:spPr>
          <a:xfrm>
            <a:off x="1463040" y="42062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ffffff"/>
                </a:solidFill>
                <a:latin typeface="Calibri"/>
              </a:rPr>
              <a:t>04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Text 23"/>
          <p:cNvSpPr/>
          <p:nvPr/>
        </p:nvSpPr>
        <p:spPr>
          <a:xfrm>
            <a:off x="1920240" y="4151520"/>
            <a:ext cx="5668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-1" strike="noStrike">
                <a:solidFill>
                  <a:srgbClr val="c4b5fd"/>
                </a:solidFill>
                <a:latin typeface="Calibri"/>
              </a:rPr>
              <a:t>Les contraintes de source impactent le modèle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Text 24"/>
          <p:cNvSpPr/>
          <p:nvPr/>
        </p:nvSpPr>
        <p:spPr>
          <a:xfrm>
            <a:off x="1920240" y="4407480"/>
            <a:ext cx="5668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8b9cb6"/>
                </a:solidFill>
                <a:latin typeface="Calibri"/>
                <a:ea typeface="Calibri"/>
              </a:rPr>
              <a:t>L'export gratuit de The Lens manque de champs clés (statut, domaine CPC). Solutions de contournement nécessaires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2026-02-26T15:10:47Z</dcterms:created>
  <dc:creator>PptxGenJS</dc:creator>
  <dc:description/>
  <dc:language>fr-FR</dc:language>
  <cp:lastModifiedBy/>
  <dcterms:modified xsi:type="dcterms:W3CDTF">2026-03-06T19:47:39Z</dcterms:modified>
  <cp:revision>2</cp:revision>
  <dc:subject>PptxGenJS Presentation</dc:subject>
  <dc:title>Analyse Base de Données - Brevets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